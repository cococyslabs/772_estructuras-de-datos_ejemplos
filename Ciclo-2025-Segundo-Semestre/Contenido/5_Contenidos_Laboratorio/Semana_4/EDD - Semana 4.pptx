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10287000" cx="18288000"/>
  <p:notesSz cx="6858000" cy="9144000"/>
  <p:embeddedFontLst>
    <p:embeddedFont>
      <p:font typeface="Lobster"/>
      <p:regular r:id="rId26"/>
    </p:embeddedFont>
    <p:embeddedFont>
      <p:font typeface="Pacifico"/>
      <p:regular r:id="rId27"/>
    </p:embeddedFont>
    <p:embeddedFont>
      <p:font typeface="Questrial"/>
      <p:regular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iJx6UGxefC3UqoRaRpArbLC/4O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21135E-72F3-4907-95A9-370FA2D5BA5D}">
  <a:tblStyle styleId="{8A21135E-72F3-4907-95A9-370FA2D5BA5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143C815-7D82-49DC-A5DC-9AF3E61066B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Lobster-regular.fntdata"/><Relationship Id="rId25" Type="http://schemas.openxmlformats.org/officeDocument/2006/relationships/slide" Target="slides/slide18.xml"/><Relationship Id="rId28" Type="http://schemas.openxmlformats.org/officeDocument/2006/relationships/font" Target="fonts/Questrial-regular.fntdata"/><Relationship Id="rId27" Type="http://schemas.openxmlformats.org/officeDocument/2006/relationships/font" Target="fonts/Pacific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penSans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4.xml"/><Relationship Id="rId33" Type="http://customschemas.google.com/relationships/presentationmetadata" Target="metadata"/><Relationship Id="rId10" Type="http://schemas.openxmlformats.org/officeDocument/2006/relationships/slide" Target="slides/slide3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3cbc7ec76_1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65" name="Google Shape;165;g363cbc7ec76_1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63cbc7ec76_1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63cbc7ec76_1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63cbc7ec76_1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69" name="Google Shape;169;g363cbc7ec76_1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7" name="Google Shape;177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8" name="Google Shape;178;p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81" name="Google Shape;181;p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93" name="Google Shape;193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4" name="Google Shape;194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97" name="Google Shape;197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25" name="Google Shape;225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6" name="Google Shape;226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29" name="Google Shape;229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37" name="Google Shape;237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8" name="Google Shape;238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41" name="Google Shape;241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f43537375_2_18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0" name="Google Shape;250;g39f43537375_2_18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1" name="Google Shape;251;g39f43537375_2_18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9f43537375_2_18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9f43537375_2_18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4" name="Google Shape;254;g39f43537375_2_18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f43537375_2_20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3" name="Google Shape;273;g39f43537375_2_20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4" name="Google Shape;274;g39f43537375_2_203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9f43537375_2_20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9f43537375_2_20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7" name="Google Shape;277;g39f43537375_2_20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f43537375_2_2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6" name="Google Shape;286;g39f43537375_2_2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7" name="Google Shape;287;g39f43537375_2_21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9f43537375_2_21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9f43537375_2_21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0" name="Google Shape;290;g39f43537375_2_21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f43537375_2_22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0" name="Google Shape;300;g39f43537375_2_22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1" name="Google Shape;301;g39f43537375_2_22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9f43537375_2_22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9f43537375_2_22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4" name="Google Shape;304;g39f43537375_2_22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f43537375_2_24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9" name="Google Shape;319;g39f43537375_2_24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0" name="Google Shape;320;g39f43537375_2_24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9f43537375_2_24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9f43537375_2_24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3" name="Google Shape;323;g39f43537375_2_24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f43537375_2_26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9" name="Google Shape;339;g39f43537375_2_26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0" name="Google Shape;340;g39f43537375_2_26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9f43537375_2_26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9f43537375_2_26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3" name="Google Shape;343;g39f43537375_2_26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9f43537375_3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2" name="Google Shape;362;g39f43537375_3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3" name="Google Shape;363;g39f43537375_3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9f43537375_3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9f43537375_3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6" name="Google Shape;366;g39f43537375_3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74" name="Google Shape;374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5" name="Google Shape;375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78" name="Google Shape;378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86" name="Google Shape;386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7" name="Google Shape;387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90" name="Google Shape;390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f43537375_1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9f43537375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f43537375_1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9f43537375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9f43537375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9f43537375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9f43537375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g39f43537375_1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43537375_1_13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6" name="Google Shape;86;g39f43537375_1_13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7" name="Google Shape;87;g39f43537375_1_13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f43537375_2_29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9f43537375_2_29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9f43537375_2_29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43537375_2_297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9f43537375_2_29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g39f43537375_2_29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9f43537375_2_29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9f43537375_2_29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f43537375_2_30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9f43537375_2_30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g39f43537375_2_30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9f43537375_2_30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9f43537375_2_30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f43537375_2_309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9f43537375_2_309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3" name="Google Shape;113;g39f43537375_2_30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9f43537375_2_30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9f43537375_2_30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f43537375_2_3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9f43537375_2_31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9" name="Google Shape;119;g39f43537375_2_31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0" name="Google Shape;120;g39f43537375_2_3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9f43537375_2_3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9f43537375_2_3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f43537375_2_3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9f43537375_2_322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g39f43537375_2_322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7" name="Google Shape;127;g39f43537375_2_322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g39f43537375_2_322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9" name="Google Shape;129;g39f43537375_2_3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9f43537375_2_3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9f43537375_2_3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f43537375_2_3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9f43537375_2_3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9f43537375_2_3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9f43537375_2_3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f43537375_2_336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9f43537375_2_336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0" name="Google Shape;140;g39f43537375_2_336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1" name="Google Shape;141;g39f43537375_2_33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9f43537375_2_33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9f43537375_2_3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f43537375_2_343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9f43537375_2_34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g39f43537375_2_343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8" name="Google Shape;148;g39f43537375_2_34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9f43537375_2_34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9f43537375_2_34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f43537375_2_3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9f43537375_2_350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g39f43537375_2_35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9f43537375_2_35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9f43537375_2_35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f43537375_2_356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9f43537375_2_356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g39f43537375_2_3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g39f43537375_2_3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39f43537375_2_3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f43537375_2_2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0" name="Google Shape;90;g39f43537375_2_28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g39f43537375_2_28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9f43537375_2_28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9f43537375_2_28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geeksforgeeks.org/queue-data-structure/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3cbc7ec76_1_0"/>
          <p:cNvSpPr/>
          <p:nvPr/>
        </p:nvSpPr>
        <p:spPr>
          <a:xfrm>
            <a:off x="0" y="0"/>
            <a:ext cx="20196556" cy="10287000"/>
          </a:xfrm>
          <a:custGeom>
            <a:rect b="b" l="l" r="r" t="t"/>
            <a:pathLst>
              <a:path extrusionOk="0" h="13716000" w="24333200">
                <a:moveTo>
                  <a:pt x="0" y="0"/>
                </a:moveTo>
                <a:lnTo>
                  <a:pt x="24333200" y="0"/>
                </a:lnTo>
                <a:lnTo>
                  <a:pt x="243332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72" name="Google Shape;172;g363cbc7ec76_1_0"/>
          <p:cNvGraphicFramePr/>
          <p:nvPr/>
        </p:nvGraphicFramePr>
        <p:xfrm>
          <a:off x="10576243" y="2111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{8A21135E-72F3-4907-95A9-370FA2D5BA5D}</a:tableStyleId>
              </a:tblPr>
              <a:tblGrid>
                <a:gridCol w="3657600"/>
                <a:gridCol w="36576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dia</a:t>
                      </a: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, </a:t>
                      </a:r>
                      <a:r>
                        <a:rPr lang="en-US" sz="2000" u="none" cap="none" strike="noStrike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</a:t>
                      </a:r>
                      <a:r>
                        <a:rPr lang="en-US" sz="20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</a:t>
                      </a: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/0</a:t>
                      </a:r>
                      <a:r>
                        <a:rPr lang="en-US" sz="20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</a:t>
                      </a: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/2</a:t>
                      </a:r>
                      <a:r>
                        <a:rPr lang="en-US" sz="20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026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00:00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g363cbc7ec76_1_0"/>
          <p:cNvSpPr txBox="1"/>
          <p:nvPr/>
        </p:nvSpPr>
        <p:spPr>
          <a:xfrm>
            <a:off x="3326088" y="4213166"/>
            <a:ext cx="1242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Laboratorio Estructuras De Datos Sección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63cbc7ec76_1_0"/>
          <p:cNvSpPr txBox="1"/>
          <p:nvPr/>
        </p:nvSpPr>
        <p:spPr>
          <a:xfrm>
            <a:off x="3326088" y="5350863"/>
            <a:ext cx="1242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"/>
          <p:cNvSpPr/>
          <p:nvPr/>
        </p:nvSpPr>
        <p:spPr>
          <a:xfrm>
            <a:off x="12541309" y="0"/>
            <a:ext cx="5746718" cy="1711738"/>
          </a:xfrm>
          <a:custGeom>
            <a:rect b="b" l="l" r="r" t="t"/>
            <a:pathLst>
              <a:path extrusionOk="0" h="2282317" w="7662291">
                <a:moveTo>
                  <a:pt x="0" y="0"/>
                </a:moveTo>
                <a:lnTo>
                  <a:pt x="7662291" y="0"/>
                </a:lnTo>
                <a:lnTo>
                  <a:pt x="7662291" y="2282317"/>
                </a:lnTo>
                <a:lnTo>
                  <a:pt x="0" y="2282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"/>
          <p:cNvSpPr txBox="1"/>
          <p:nvPr/>
        </p:nvSpPr>
        <p:spPr>
          <a:xfrm>
            <a:off x="1063303" y="7205119"/>
            <a:ext cx="63036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1" i="0" lang="en-US" sz="4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2655307" y="2579849"/>
            <a:ext cx="129774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72"/>
              <a:buFont typeface="Arial"/>
              <a:buNone/>
            </a:pPr>
            <a:r>
              <a:rPr b="1" i="0" lang="en-US" sz="777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Estructuras con acceso especial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"/>
          <p:cNvSpPr txBox="1"/>
          <p:nvPr/>
        </p:nvSpPr>
        <p:spPr>
          <a:xfrm>
            <a:off x="1063303" y="8630951"/>
            <a:ext cx="69813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"/>
          <p:cNvSpPr txBox="1"/>
          <p:nvPr/>
        </p:nvSpPr>
        <p:spPr>
          <a:xfrm>
            <a:off x="1028700" y="9096375"/>
            <a:ext cx="66675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228600" y="9473954"/>
            <a:ext cx="81153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"/>
          <p:cNvSpPr/>
          <p:nvPr/>
        </p:nvSpPr>
        <p:spPr>
          <a:xfrm flipH="1" rot="2432349">
            <a:off x="-1105607" y="559719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190" name="Google Shape;190;p1"/>
          <p:cNvSpPr/>
          <p:nvPr/>
        </p:nvSpPr>
        <p:spPr>
          <a:xfrm rot="4813445">
            <a:off x="-6248812" y="726329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"/>
          <p:cNvSpPr/>
          <p:nvPr/>
        </p:nvSpPr>
        <p:spPr>
          <a:xfrm>
            <a:off x="176619" y="4699462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00" name="Google Shape;200;p2"/>
          <p:cNvGrpSpPr/>
          <p:nvPr/>
        </p:nvGrpSpPr>
        <p:grpSpPr>
          <a:xfrm>
            <a:off x="1558478" y="4487383"/>
            <a:ext cx="6463385" cy="1002548"/>
            <a:chOff x="0" y="-209550"/>
            <a:chExt cx="8617847" cy="1336730"/>
          </a:xfrm>
        </p:grpSpPr>
        <p:sp>
          <p:nvSpPr>
            <p:cNvPr id="201" name="Google Shape;201;p2"/>
            <p:cNvSpPr/>
            <p:nvPr/>
          </p:nvSpPr>
          <p:spPr>
            <a:xfrm>
              <a:off x="0" y="0"/>
              <a:ext cx="8617847" cy="1127180"/>
            </a:xfrm>
            <a:custGeom>
              <a:rect b="b" l="l" r="r" t="t"/>
              <a:pathLst>
                <a:path extrusionOk="0" h="1127180" w="8617847">
                  <a:moveTo>
                    <a:pt x="0" y="0"/>
                  </a:moveTo>
                  <a:lnTo>
                    <a:pt x="8617847" y="0"/>
                  </a:lnTo>
                  <a:lnTo>
                    <a:pt x="8617847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2" name="Google Shape;202;p2"/>
            <p:cNvSpPr txBox="1"/>
            <p:nvPr/>
          </p:nvSpPr>
          <p:spPr>
            <a:xfrm>
              <a:off x="0" y="-209550"/>
              <a:ext cx="8617847" cy="1336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Lista Doblemente Enlazada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2"/>
          <p:cNvSpPr/>
          <p:nvPr/>
        </p:nvSpPr>
        <p:spPr>
          <a:xfrm>
            <a:off x="87865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0" r="2" t="0"/>
            </a:stretch>
          </a:blipFill>
          <a:ln>
            <a:noFill/>
          </a:ln>
        </p:spPr>
      </p:sp>
      <p:sp>
        <p:nvSpPr>
          <p:cNvPr id="204" name="Google Shape;204;p2"/>
          <p:cNvSpPr/>
          <p:nvPr/>
        </p:nvSpPr>
        <p:spPr>
          <a:xfrm>
            <a:off x="1866989" y="3303305"/>
            <a:ext cx="4115181" cy="1267206"/>
          </a:xfrm>
          <a:custGeom>
            <a:rect b="b" l="l" r="r" t="t"/>
            <a:pathLst>
              <a:path extrusionOk="0" h="1689608" w="5486908">
                <a:moveTo>
                  <a:pt x="4458208" y="0"/>
                </a:moveTo>
                <a:lnTo>
                  <a:pt x="0" y="0"/>
                </a:lnTo>
                <a:lnTo>
                  <a:pt x="0" y="1689608"/>
                </a:lnTo>
                <a:lnTo>
                  <a:pt x="4458208" y="1689608"/>
                </a:lnTo>
                <a:lnTo>
                  <a:pt x="5486908" y="844804"/>
                </a:lnTo>
                <a:lnTo>
                  <a:pt x="44582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05" name="Google Shape;205;p2"/>
          <p:cNvGrpSpPr/>
          <p:nvPr/>
        </p:nvGrpSpPr>
        <p:grpSpPr>
          <a:xfrm>
            <a:off x="2083977" y="2097133"/>
            <a:ext cx="3681238" cy="2190275"/>
            <a:chOff x="0" y="0"/>
            <a:chExt cx="4908317" cy="2920367"/>
          </a:xfrm>
        </p:grpSpPr>
        <p:sp>
          <p:nvSpPr>
            <p:cNvPr id="206" name="Google Shape;206;p2"/>
            <p:cNvSpPr/>
            <p:nvPr/>
          </p:nvSpPr>
          <p:spPr>
            <a:xfrm>
              <a:off x="0" y="0"/>
              <a:ext cx="4908276" cy="2075312"/>
            </a:xfrm>
            <a:custGeom>
              <a:rect b="b" l="l" r="r" t="t"/>
              <a:pathLst>
                <a:path extrusionOk="0" h="2075312" w="4908276">
                  <a:moveTo>
                    <a:pt x="0" y="0"/>
                  </a:moveTo>
                  <a:lnTo>
                    <a:pt x="4908276" y="0"/>
                  </a:lnTo>
                  <a:lnTo>
                    <a:pt x="4908276" y="2075312"/>
                  </a:lnTo>
                  <a:lnTo>
                    <a:pt x="0" y="207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7" name="Google Shape;207;p2"/>
            <p:cNvSpPr txBox="1"/>
            <p:nvPr/>
          </p:nvSpPr>
          <p:spPr>
            <a:xfrm>
              <a:off x="17" y="635567"/>
              <a:ext cx="4908300" cy="22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FORO </a:t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2"/>
          <p:cNvSpPr/>
          <p:nvPr/>
        </p:nvSpPr>
        <p:spPr>
          <a:xfrm>
            <a:off x="651754" y="3429735"/>
            <a:ext cx="753904" cy="872966"/>
          </a:xfrm>
          <a:custGeom>
            <a:rect b="b" l="l" r="r" t="t"/>
            <a:pathLst>
              <a:path extrusionOk="0" h="1163955" w="1005205">
                <a:moveTo>
                  <a:pt x="0" y="0"/>
                </a:moveTo>
                <a:lnTo>
                  <a:pt x="1005205" y="0"/>
                </a:lnTo>
                <a:lnTo>
                  <a:pt x="1005205" y="1163955"/>
                </a:lnTo>
                <a:lnTo>
                  <a:pt x="0" y="116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5" l="0" r="0" t="-33"/>
            </a:stretch>
          </a:blipFill>
          <a:ln>
            <a:noFill/>
          </a:ln>
        </p:spPr>
      </p:sp>
      <p:sp>
        <p:nvSpPr>
          <p:cNvPr id="209" name="Google Shape;209;p2"/>
          <p:cNvSpPr/>
          <p:nvPr/>
        </p:nvSpPr>
        <p:spPr>
          <a:xfrm>
            <a:off x="11739805" y="3232617"/>
            <a:ext cx="5353621" cy="1267206"/>
          </a:xfrm>
          <a:custGeom>
            <a:rect b="b" l="l" r="r" t="t"/>
            <a:pathLst>
              <a:path extrusionOk="0" h="1689608" w="7138162">
                <a:moveTo>
                  <a:pt x="6109462" y="0"/>
                </a:moveTo>
                <a:lnTo>
                  <a:pt x="0" y="0"/>
                </a:lnTo>
                <a:lnTo>
                  <a:pt x="0" y="1689608"/>
                </a:lnTo>
                <a:lnTo>
                  <a:pt x="6109462" y="1689608"/>
                </a:lnTo>
                <a:lnTo>
                  <a:pt x="7138162" y="844804"/>
                </a:lnTo>
                <a:lnTo>
                  <a:pt x="61094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10" name="Google Shape;210;p2"/>
          <p:cNvGrpSpPr/>
          <p:nvPr/>
        </p:nvGrpSpPr>
        <p:grpSpPr>
          <a:xfrm>
            <a:off x="11419837" y="3182084"/>
            <a:ext cx="5993550" cy="2870916"/>
            <a:chOff x="-426623" y="0"/>
            <a:chExt cx="7991400" cy="3827888"/>
          </a:xfrm>
        </p:grpSpPr>
        <p:sp>
          <p:nvSpPr>
            <p:cNvPr id="211" name="Google Shape;211;p2"/>
            <p:cNvSpPr/>
            <p:nvPr/>
          </p:nvSpPr>
          <p:spPr>
            <a:xfrm>
              <a:off x="0" y="0"/>
              <a:ext cx="6559551" cy="2268193"/>
            </a:xfrm>
            <a:custGeom>
              <a:rect b="b" l="l" r="r" t="t"/>
              <a:pathLst>
                <a:path extrusionOk="0" h="2268193" w="6559551">
                  <a:moveTo>
                    <a:pt x="0" y="0"/>
                  </a:moveTo>
                  <a:lnTo>
                    <a:pt x="6559551" y="0"/>
                  </a:lnTo>
                  <a:lnTo>
                    <a:pt x="6559551" y="2268193"/>
                  </a:lnTo>
                  <a:lnTo>
                    <a:pt x="0" y="2268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2" name="Google Shape;212;p2"/>
            <p:cNvSpPr txBox="1"/>
            <p:nvPr/>
          </p:nvSpPr>
          <p:spPr>
            <a:xfrm>
              <a:off x="-426623" y="330188"/>
              <a:ext cx="7991400" cy="34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3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8"/>
                <a:buFont typeface="Arial"/>
                <a:buNone/>
              </a:pPr>
              <a:r>
                <a:rPr b="0" i="0" lang="en-US" sz="44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44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7763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2"/>
          <p:cNvSpPr/>
          <p:nvPr/>
        </p:nvSpPr>
        <p:spPr>
          <a:xfrm>
            <a:off x="176619" y="5623280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14" name="Google Shape;214;p2"/>
          <p:cNvGrpSpPr/>
          <p:nvPr/>
        </p:nvGrpSpPr>
        <p:grpSpPr>
          <a:xfrm>
            <a:off x="1558478" y="5454660"/>
            <a:ext cx="5993602" cy="1002548"/>
            <a:chOff x="0" y="-209550"/>
            <a:chExt cx="7991470" cy="1336730"/>
          </a:xfrm>
        </p:grpSpPr>
        <p:sp>
          <p:nvSpPr>
            <p:cNvPr id="215" name="Google Shape;215;p2"/>
            <p:cNvSpPr/>
            <p:nvPr/>
          </p:nvSpPr>
          <p:spPr>
            <a:xfrm>
              <a:off x="0" y="0"/>
              <a:ext cx="7991470" cy="1127180"/>
            </a:xfrm>
            <a:custGeom>
              <a:rect b="b" l="l" r="r" t="t"/>
              <a:pathLst>
                <a:path extrusionOk="0" h="1127180" w="7991470">
                  <a:moveTo>
                    <a:pt x="0" y="0"/>
                  </a:moveTo>
                  <a:lnTo>
                    <a:pt x="7991470" y="0"/>
                  </a:lnTo>
                  <a:lnTo>
                    <a:pt x="7991470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6" name="Google Shape;216;p2"/>
            <p:cNvSpPr txBox="1"/>
            <p:nvPr/>
          </p:nvSpPr>
          <p:spPr>
            <a:xfrm>
              <a:off x="0" y="-209550"/>
              <a:ext cx="7991470" cy="1336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Lista Circular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2"/>
          <p:cNvSpPr/>
          <p:nvPr/>
        </p:nvSpPr>
        <p:spPr>
          <a:xfrm>
            <a:off x="176619" y="7528435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8" name="Google Shape;218;p2"/>
          <p:cNvSpPr/>
          <p:nvPr/>
        </p:nvSpPr>
        <p:spPr>
          <a:xfrm>
            <a:off x="878654" y="562328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0" r="2" t="0"/>
            </a:stretch>
          </a:blipFill>
          <a:ln>
            <a:noFill/>
          </a:ln>
        </p:spPr>
      </p:sp>
      <p:sp>
        <p:nvSpPr>
          <p:cNvPr id="219" name="Google Shape;219;p2"/>
          <p:cNvSpPr txBox="1"/>
          <p:nvPr/>
        </p:nvSpPr>
        <p:spPr>
          <a:xfrm>
            <a:off x="700124" y="11035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"/>
          <p:cNvSpPr txBox="1"/>
          <p:nvPr/>
        </p:nvSpPr>
        <p:spPr>
          <a:xfrm>
            <a:off x="9991228" y="8732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"/>
          <p:cNvSpPr/>
          <p:nvPr/>
        </p:nvSpPr>
        <p:spPr>
          <a:xfrm flipH="1" rot="2432349">
            <a:off x="-1105607" y="559719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222" name="Google Shape;222;p2"/>
          <p:cNvSpPr/>
          <p:nvPr/>
        </p:nvSpPr>
        <p:spPr>
          <a:xfrm rot="4813445">
            <a:off x="-6248812" y="726329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"/>
          <p:cNvSpPr txBox="1"/>
          <p:nvPr/>
        </p:nvSpPr>
        <p:spPr>
          <a:xfrm>
            <a:off x="6467994" y="800450"/>
            <a:ext cx="5352000" cy="30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/>
              <a:t>Pensamiento </a:t>
            </a:r>
            <a:r>
              <a:rPr lang="en-US" sz="5600"/>
              <a:t>crítico</a:t>
            </a:r>
            <a:endParaRPr sz="5600"/>
          </a:p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t/>
            </a:r>
            <a:endParaRPr sz="69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32" name="Google Shape;23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2980" y="3074600"/>
            <a:ext cx="10462029" cy="613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"/>
          <p:cNvSpPr/>
          <p:nvPr/>
        </p:nvSpPr>
        <p:spPr>
          <a:xfrm flipH="1" rot="2432349">
            <a:off x="-1105607" y="559719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234" name="Google Shape;234;p3"/>
          <p:cNvSpPr/>
          <p:nvPr/>
        </p:nvSpPr>
        <p:spPr>
          <a:xfrm rot="4813445">
            <a:off x="-6248812" y="726329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"/>
          <p:cNvSpPr/>
          <p:nvPr/>
        </p:nvSpPr>
        <p:spPr>
          <a:xfrm>
            <a:off x="13308879" y="5974478"/>
            <a:ext cx="4114219" cy="3903366"/>
          </a:xfrm>
          <a:custGeom>
            <a:rect b="b" l="l" r="r" t="t"/>
            <a:pathLst>
              <a:path extrusionOk="0" h="3903366" w="4114219">
                <a:moveTo>
                  <a:pt x="0" y="0"/>
                </a:moveTo>
                <a:lnTo>
                  <a:pt x="4114220" y="0"/>
                </a:lnTo>
                <a:lnTo>
                  <a:pt x="4114220" y="3903365"/>
                </a:lnTo>
                <a:lnTo>
                  <a:pt x="0" y="3903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4"/>
          <p:cNvSpPr txBox="1"/>
          <p:nvPr/>
        </p:nvSpPr>
        <p:spPr>
          <a:xfrm>
            <a:off x="3398724" y="3406525"/>
            <a:ext cx="124788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/>
              <a:t>Implementa estructuras de datos lineales y no lineales usando programación orientada a objetos para desarrollar soluciones eficientes.</a:t>
            </a:r>
            <a:endParaRPr sz="5100"/>
          </a:p>
          <a:p>
            <a:pPr indent="0" lvl="0" marL="0" marR="0" rtl="0" algn="ctr">
              <a:lnSpc>
                <a:spcPct val="168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8"/>
              <a:buFont typeface="Arial"/>
              <a:buNone/>
            </a:pPr>
            <a:r>
              <a:t/>
            </a:r>
            <a:endParaRPr sz="519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4"/>
          <p:cNvSpPr txBox="1"/>
          <p:nvPr/>
        </p:nvSpPr>
        <p:spPr>
          <a:xfrm>
            <a:off x="2636922" y="355621"/>
            <a:ext cx="6740149" cy="2184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"/>
          <p:cNvSpPr/>
          <p:nvPr/>
        </p:nvSpPr>
        <p:spPr>
          <a:xfrm flipH="1" rot="2432349">
            <a:off x="-1105607" y="559719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247" name="Google Shape;247;p4"/>
          <p:cNvSpPr/>
          <p:nvPr/>
        </p:nvSpPr>
        <p:spPr>
          <a:xfrm rot="4813445">
            <a:off x="-6248812" y="726329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f43537375_2_181"/>
          <p:cNvSpPr/>
          <p:nvPr/>
        </p:nvSpPr>
        <p:spPr>
          <a:xfrm rot="-5342710">
            <a:off x="7555798" y="-10548028"/>
            <a:ext cx="13109649" cy="13502419"/>
          </a:xfrm>
          <a:custGeom>
            <a:rect b="b" l="l" r="r" t="t"/>
            <a:pathLst>
              <a:path extrusionOk="0" h="18000726" w="17477105">
                <a:moveTo>
                  <a:pt x="0" y="0"/>
                </a:moveTo>
                <a:lnTo>
                  <a:pt x="17477105" y="0"/>
                </a:lnTo>
                <a:lnTo>
                  <a:pt x="17477105" y="18000726"/>
                </a:lnTo>
                <a:lnTo>
                  <a:pt x="0" y="18000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257" name="Google Shape;257;g39f43537375_2_181"/>
          <p:cNvSpPr/>
          <p:nvPr/>
        </p:nvSpPr>
        <p:spPr>
          <a:xfrm flipH="1" rot="-6033661">
            <a:off x="14384613" y="-4406036"/>
            <a:ext cx="12036179" cy="12396801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258" name="Google Shape;258;g39f43537375_2_181"/>
          <p:cNvSpPr txBox="1"/>
          <p:nvPr/>
        </p:nvSpPr>
        <p:spPr>
          <a:xfrm>
            <a:off x="1028700" y="847725"/>
            <a:ext cx="673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9" name="Google Shape;259;g39f43537375_2_181"/>
          <p:cNvSpPr txBox="1"/>
          <p:nvPr/>
        </p:nvSpPr>
        <p:spPr>
          <a:xfrm>
            <a:off x="1028700" y="2691607"/>
            <a:ext cx="137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5B4F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0" name="Google Shape;260;g39f43537375_2_181"/>
          <p:cNvSpPr txBox="1"/>
          <p:nvPr/>
        </p:nvSpPr>
        <p:spPr>
          <a:xfrm>
            <a:off x="1028700" y="4014095"/>
            <a:ext cx="36540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DE MEMORIA ADICIONAL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1" name="Google Shape;261;g39f43537375_2_181"/>
          <p:cNvSpPr txBox="1"/>
          <p:nvPr/>
        </p:nvSpPr>
        <p:spPr>
          <a:xfrm>
            <a:off x="1028700" y="5214576"/>
            <a:ext cx="3654000" cy="23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Requiere más memoria que las listas enlazadas simples debido a la necesidad de almacenar punteros adicionales para los nodos anteriores.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" name="Google Shape;262;g39f43537375_2_181"/>
          <p:cNvSpPr txBox="1"/>
          <p:nvPr/>
        </p:nvSpPr>
        <p:spPr>
          <a:xfrm>
            <a:off x="5220925" y="2691607"/>
            <a:ext cx="137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5B4F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63" name="Google Shape;263;g39f43537375_2_181"/>
          <p:cNvSpPr txBox="1"/>
          <p:nvPr/>
        </p:nvSpPr>
        <p:spPr>
          <a:xfrm>
            <a:off x="5220963" y="4059020"/>
            <a:ext cx="36540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COMPLEJIDAD EN LA IMPLEMENTACIÓN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4" name="Google Shape;264;g39f43537375_2_181"/>
          <p:cNvSpPr txBox="1"/>
          <p:nvPr/>
        </p:nvSpPr>
        <p:spPr>
          <a:xfrm>
            <a:off x="5220925" y="5214576"/>
            <a:ext cx="3654000" cy="23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implementación y manipulación de punteros adicionales pueden aumentar la complejidad del código en comparación con estructuras de datos más simples.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5" name="Google Shape;265;g39f43537375_2_181"/>
          <p:cNvSpPr txBox="1"/>
          <p:nvPr/>
        </p:nvSpPr>
        <p:spPr>
          <a:xfrm>
            <a:off x="9413150" y="2855432"/>
            <a:ext cx="137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5B4F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66" name="Google Shape;266;g39f43537375_2_181"/>
          <p:cNvSpPr txBox="1"/>
          <p:nvPr/>
        </p:nvSpPr>
        <p:spPr>
          <a:xfrm>
            <a:off x="9213675" y="4191645"/>
            <a:ext cx="36540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 DIFÍCIL DE MANTENER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7" name="Google Shape;267;g39f43537375_2_181"/>
          <p:cNvSpPr txBox="1"/>
          <p:nvPr/>
        </p:nvSpPr>
        <p:spPr>
          <a:xfrm>
            <a:off x="9413150" y="5214576"/>
            <a:ext cx="3654000" cy="28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manipulación de punteros adicionales puede hacer que sea más propenso a errores si no se maneja adecuadamente, especialmente durante la inserción y eliminación de nodos.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8" name="Google Shape;268;g39f43537375_2_181"/>
          <p:cNvSpPr txBox="1"/>
          <p:nvPr/>
        </p:nvSpPr>
        <p:spPr>
          <a:xfrm>
            <a:off x="13605374" y="2691607"/>
            <a:ext cx="137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5B4F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69" name="Google Shape;269;g39f43537375_2_181"/>
          <p:cNvSpPr txBox="1"/>
          <p:nvPr/>
        </p:nvSpPr>
        <p:spPr>
          <a:xfrm>
            <a:off x="13660092" y="4065120"/>
            <a:ext cx="36540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MENOS EFICIENTE PARA ALGUNAS OPERACIONES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g39f43537375_2_181"/>
          <p:cNvSpPr txBox="1"/>
          <p:nvPr/>
        </p:nvSpPr>
        <p:spPr>
          <a:xfrm>
            <a:off x="13605374" y="5557476"/>
            <a:ext cx="3654000" cy="28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algunas operaciones específicas, como el acceso secuencial, una lista doblemente enlazada puede ser menos eficiente que otras estructuras de datos como los arrays.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f43537375_2_203"/>
          <p:cNvSpPr/>
          <p:nvPr/>
        </p:nvSpPr>
        <p:spPr>
          <a:xfrm rot="-5560312">
            <a:off x="11142285" y="81139"/>
            <a:ext cx="6668081" cy="6867847"/>
          </a:xfrm>
          <a:custGeom>
            <a:rect b="b" l="l" r="r" t="t"/>
            <a:pathLst>
              <a:path extrusionOk="0" h="9147175" w="8881110">
                <a:moveTo>
                  <a:pt x="0" y="0"/>
                </a:moveTo>
                <a:lnTo>
                  <a:pt x="8881110" y="0"/>
                </a:lnTo>
                <a:lnTo>
                  <a:pt x="8881110" y="9147175"/>
                </a:lnTo>
                <a:lnTo>
                  <a:pt x="0" y="9147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280" name="Google Shape;280;g39f43537375_2_203"/>
          <p:cNvSpPr txBox="1"/>
          <p:nvPr/>
        </p:nvSpPr>
        <p:spPr>
          <a:xfrm>
            <a:off x="1736531" y="6306288"/>
            <a:ext cx="11772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CIRCULAR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1" name="Google Shape;281;g39f43537375_2_203"/>
          <p:cNvSpPr txBox="1"/>
          <p:nvPr/>
        </p:nvSpPr>
        <p:spPr>
          <a:xfrm>
            <a:off x="1736531" y="5468569"/>
            <a:ext cx="117729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5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ENLAZADA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2" name="Google Shape;282;g39f43537375_2_203"/>
          <p:cNvSpPr/>
          <p:nvPr/>
        </p:nvSpPr>
        <p:spPr>
          <a:xfrm rot="-5147510">
            <a:off x="9681401" y="-5308910"/>
            <a:ext cx="9432766" cy="9715383"/>
          </a:xfrm>
          <a:custGeom>
            <a:rect b="b" l="l" r="r" t="t"/>
            <a:pathLst>
              <a:path extrusionOk="0" h="12962128" w="12585065">
                <a:moveTo>
                  <a:pt x="0" y="0"/>
                </a:moveTo>
                <a:lnTo>
                  <a:pt x="12585065" y="0"/>
                </a:lnTo>
                <a:lnTo>
                  <a:pt x="12585065" y="12962128"/>
                </a:lnTo>
                <a:lnTo>
                  <a:pt x="0" y="12962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283" name="Google Shape;283;g39f43537375_2_203"/>
          <p:cNvSpPr/>
          <p:nvPr/>
        </p:nvSpPr>
        <p:spPr>
          <a:xfrm flipH="1" rot="-5836017">
            <a:off x="14357310" y="-644776"/>
            <a:ext cx="8676536" cy="8936545"/>
          </a:xfrm>
          <a:custGeom>
            <a:rect b="b" l="l" r="r" t="t"/>
            <a:pathLst>
              <a:path extrusionOk="0" h="11899011" w="11552809">
                <a:moveTo>
                  <a:pt x="11552809" y="0"/>
                </a:moveTo>
                <a:lnTo>
                  <a:pt x="0" y="0"/>
                </a:lnTo>
                <a:lnTo>
                  <a:pt x="0" y="11899011"/>
                </a:lnTo>
                <a:lnTo>
                  <a:pt x="11552809" y="11899011"/>
                </a:lnTo>
                <a:lnTo>
                  <a:pt x="11552809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f43537375_2_215"/>
          <p:cNvSpPr/>
          <p:nvPr/>
        </p:nvSpPr>
        <p:spPr>
          <a:xfrm flipH="1" rot="2432349">
            <a:off x="8981046" y="643035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293" name="Google Shape;293;g39f43537375_2_215"/>
          <p:cNvSpPr/>
          <p:nvPr/>
        </p:nvSpPr>
        <p:spPr>
          <a:xfrm rot="4813445">
            <a:off x="3837841" y="809645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294" name="Google Shape;294;g39f43537375_2_215"/>
          <p:cNvSpPr/>
          <p:nvPr/>
        </p:nvSpPr>
        <p:spPr>
          <a:xfrm>
            <a:off x="9990745" y="4293249"/>
            <a:ext cx="7110508" cy="1935289"/>
          </a:xfrm>
          <a:custGeom>
            <a:rect b="b" l="l" r="r" t="t"/>
            <a:pathLst>
              <a:path extrusionOk="0" h="2580386" w="9480677">
                <a:moveTo>
                  <a:pt x="0" y="0"/>
                </a:moveTo>
                <a:lnTo>
                  <a:pt x="9480677" y="0"/>
                </a:lnTo>
                <a:lnTo>
                  <a:pt x="9480677" y="2580386"/>
                </a:lnTo>
                <a:lnTo>
                  <a:pt x="0" y="2580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g39f43537375_2_215"/>
          <p:cNvSpPr txBox="1"/>
          <p:nvPr/>
        </p:nvSpPr>
        <p:spPr>
          <a:xfrm>
            <a:off x="1028700" y="847725"/>
            <a:ext cx="766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6" name="Google Shape;296;g39f43537375_2_215"/>
          <p:cNvSpPr txBox="1"/>
          <p:nvPr/>
        </p:nvSpPr>
        <p:spPr>
          <a:xfrm>
            <a:off x="1613806" y="2841873"/>
            <a:ext cx="7084200" cy="52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7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lista circular es una lista lineal en la que el último nodo </a:t>
            </a:r>
            <a:r>
              <a:rPr lang="en-US" sz="2758">
                <a:solidFill>
                  <a:schemeClr val="dk1"/>
                </a:solidFill>
              </a:rPr>
              <a:t>apunta</a:t>
            </a:r>
            <a:r>
              <a:rPr b="0" i="0" lang="en-US" sz="275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 primero.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907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listas circulares evitan excepciones en la operaciones que se realicen sobre ellas. No existen casos especiales, cada nodo siempre tiene uno anterior y uno siguiente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68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5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9f43537375_2_215"/>
          <p:cNvSpPr txBox="1"/>
          <p:nvPr/>
        </p:nvSpPr>
        <p:spPr>
          <a:xfrm>
            <a:off x="91425" y="62850"/>
            <a:ext cx="281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f43537375_2_228"/>
          <p:cNvSpPr txBox="1"/>
          <p:nvPr/>
        </p:nvSpPr>
        <p:spPr>
          <a:xfrm>
            <a:off x="9466937" y="1539042"/>
            <a:ext cx="92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" name="Google Shape;307;g39f43537375_2_228"/>
          <p:cNvSpPr/>
          <p:nvPr/>
        </p:nvSpPr>
        <p:spPr>
          <a:xfrm flipH="1" rot="2432349">
            <a:off x="-1105607" y="559719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308" name="Google Shape;308;g39f43537375_2_228"/>
          <p:cNvSpPr/>
          <p:nvPr/>
        </p:nvSpPr>
        <p:spPr>
          <a:xfrm rot="4813445">
            <a:off x="-6248812" y="726329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309" name="Google Shape;309;g39f43537375_2_228"/>
          <p:cNvSpPr txBox="1"/>
          <p:nvPr/>
        </p:nvSpPr>
        <p:spPr>
          <a:xfrm>
            <a:off x="9466937" y="3438231"/>
            <a:ext cx="92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0" name="Google Shape;310;g39f43537375_2_228"/>
          <p:cNvSpPr txBox="1"/>
          <p:nvPr/>
        </p:nvSpPr>
        <p:spPr>
          <a:xfrm>
            <a:off x="9466937" y="7055048"/>
            <a:ext cx="92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1" name="Google Shape;311;g39f43537375_2_228"/>
          <p:cNvSpPr txBox="1"/>
          <p:nvPr/>
        </p:nvSpPr>
        <p:spPr>
          <a:xfrm>
            <a:off x="9466937" y="5190163"/>
            <a:ext cx="77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2" name="Google Shape;312;g39f43537375_2_228"/>
          <p:cNvSpPr txBox="1"/>
          <p:nvPr/>
        </p:nvSpPr>
        <p:spPr>
          <a:xfrm>
            <a:off x="10531020" y="1710492"/>
            <a:ext cx="59607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implementación puede ser más compleja en comparación con una lista enlazada simple, ya que se deben manejar los casos especiales para el último nodo que apunta al primero.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g39f43537375_2_228"/>
          <p:cNvSpPr txBox="1"/>
          <p:nvPr/>
        </p:nvSpPr>
        <p:spPr>
          <a:xfrm>
            <a:off x="10531020" y="3609681"/>
            <a:ext cx="59607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Puede requerir menos espacio de memoria que una lista doblemente enlazada, ya que solo necesita un puntero por nodo.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g39f43537375_2_228"/>
          <p:cNvSpPr txBox="1"/>
          <p:nvPr/>
        </p:nvSpPr>
        <p:spPr>
          <a:xfrm>
            <a:off x="10531020" y="7226498"/>
            <a:ext cx="59607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último nodo de la lista apunta al primer nodo, creando así una conexión circular.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5" name="Google Shape;315;g39f43537375_2_228"/>
          <p:cNvSpPr txBox="1"/>
          <p:nvPr/>
        </p:nvSpPr>
        <p:spPr>
          <a:xfrm>
            <a:off x="10531020" y="5361613"/>
            <a:ext cx="5960700" cy="14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Aunque no hay un nodo específico designado como "inicio" o "fin", cualquier nodo puede ser considerado como inicio dependiendo de la referencia que se utilice para acceder a la lista.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6" name="Google Shape;316;g39f43537375_2_228"/>
          <p:cNvSpPr txBox="1"/>
          <p:nvPr/>
        </p:nvSpPr>
        <p:spPr>
          <a:xfrm>
            <a:off x="1028700" y="4339758"/>
            <a:ext cx="673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f43537375_2_246"/>
          <p:cNvSpPr txBox="1"/>
          <p:nvPr/>
        </p:nvSpPr>
        <p:spPr>
          <a:xfrm>
            <a:off x="951800" y="886175"/>
            <a:ext cx="673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6" name="Google Shape;326;g39f43537375_2_246"/>
          <p:cNvSpPr txBox="1"/>
          <p:nvPr/>
        </p:nvSpPr>
        <p:spPr>
          <a:xfrm>
            <a:off x="3124812" y="2544378"/>
            <a:ext cx="137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5B4F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27" name="Google Shape;327;g39f43537375_2_246"/>
          <p:cNvSpPr txBox="1"/>
          <p:nvPr/>
        </p:nvSpPr>
        <p:spPr>
          <a:xfrm>
            <a:off x="3124812" y="4016416"/>
            <a:ext cx="36540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MODELADO DE PROCESOS CIRCULARES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8" name="Google Shape;328;g39f43537375_2_246"/>
          <p:cNvSpPr txBox="1"/>
          <p:nvPr/>
        </p:nvSpPr>
        <p:spPr>
          <a:xfrm>
            <a:off x="3124812" y="5410247"/>
            <a:ext cx="3654000" cy="18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Útil para modelar y simular procesos cíclicos o sistemas donde ciertos eventos se repiten de manera continua.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9" name="Google Shape;329;g39f43537375_2_246"/>
          <p:cNvSpPr txBox="1"/>
          <p:nvPr/>
        </p:nvSpPr>
        <p:spPr>
          <a:xfrm>
            <a:off x="7317037" y="2544378"/>
            <a:ext cx="137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5B4F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30" name="Google Shape;330;g39f43537375_2_246"/>
          <p:cNvSpPr txBox="1"/>
          <p:nvPr/>
        </p:nvSpPr>
        <p:spPr>
          <a:xfrm>
            <a:off x="7317062" y="4016416"/>
            <a:ext cx="36540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MENOS CONDICIONALES ESPECIALES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1" name="Google Shape;331;g39f43537375_2_246"/>
          <p:cNvSpPr txBox="1"/>
          <p:nvPr/>
        </p:nvSpPr>
        <p:spPr>
          <a:xfrm>
            <a:off x="7317037" y="5410247"/>
            <a:ext cx="3654000" cy="28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algunas implementaciones, la lógica de manejar el final de la lista puede simplificarse, ya que no hay nodos que apunten a un valor nulo, evitando así condicionales adicionales.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2" name="Google Shape;332;g39f43537375_2_246"/>
          <p:cNvSpPr txBox="1"/>
          <p:nvPr/>
        </p:nvSpPr>
        <p:spPr>
          <a:xfrm>
            <a:off x="11509262" y="2544378"/>
            <a:ext cx="137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5B4F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33" name="Google Shape;333;g39f43537375_2_246"/>
          <p:cNvSpPr txBox="1"/>
          <p:nvPr/>
        </p:nvSpPr>
        <p:spPr>
          <a:xfrm>
            <a:off x="11509262" y="4359316"/>
            <a:ext cx="365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RECORRIDO CONTINUO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4" name="Google Shape;334;g39f43537375_2_246"/>
          <p:cNvSpPr txBox="1"/>
          <p:nvPr/>
        </p:nvSpPr>
        <p:spPr>
          <a:xfrm>
            <a:off x="11509262" y="5067347"/>
            <a:ext cx="3654000" cy="23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ser circular, puedes recorrer la lista de forma continua sin llegar a un final. Esto es útil en situaciones donde se requiere un acceso cíclico a los elementos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5" name="Google Shape;335;g39f43537375_2_246"/>
          <p:cNvSpPr/>
          <p:nvPr/>
        </p:nvSpPr>
        <p:spPr>
          <a:xfrm flipH="1" rot="2432349">
            <a:off x="-953207" y="574959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336" name="Google Shape;336;g39f43537375_2_246"/>
          <p:cNvSpPr/>
          <p:nvPr/>
        </p:nvSpPr>
        <p:spPr>
          <a:xfrm rot="4813445">
            <a:off x="-6096412" y="741569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f43537375_2_265"/>
          <p:cNvSpPr txBox="1"/>
          <p:nvPr/>
        </p:nvSpPr>
        <p:spPr>
          <a:xfrm>
            <a:off x="1028700" y="847725"/>
            <a:ext cx="673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6" name="Google Shape;346;g39f43537375_2_265"/>
          <p:cNvSpPr txBox="1"/>
          <p:nvPr/>
        </p:nvSpPr>
        <p:spPr>
          <a:xfrm>
            <a:off x="1028700" y="2691607"/>
            <a:ext cx="137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5B4F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47" name="Google Shape;347;g39f43537375_2_265"/>
          <p:cNvSpPr txBox="1"/>
          <p:nvPr/>
        </p:nvSpPr>
        <p:spPr>
          <a:xfrm>
            <a:off x="1028700" y="3958420"/>
            <a:ext cx="365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RECORRIDO INFINITO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8" name="Google Shape;348;g39f43537375_2_265"/>
          <p:cNvSpPr txBox="1"/>
          <p:nvPr/>
        </p:nvSpPr>
        <p:spPr>
          <a:xfrm>
            <a:off x="1028700" y="4871676"/>
            <a:ext cx="3654000" cy="28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no se implementa correctamente el manejo del bucle circular, podría conducir a un bucle infinito durante el recorrido de la lista, lo que puede resultar en un problema difícil de depurar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9" name="Google Shape;349;g39f43537375_2_265"/>
          <p:cNvSpPr txBox="1"/>
          <p:nvPr/>
        </p:nvSpPr>
        <p:spPr>
          <a:xfrm>
            <a:off x="5220925" y="2691607"/>
            <a:ext cx="137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5B4F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50" name="Google Shape;350;g39f43537375_2_265"/>
          <p:cNvSpPr txBox="1"/>
          <p:nvPr/>
        </p:nvSpPr>
        <p:spPr>
          <a:xfrm>
            <a:off x="5220925" y="3958420"/>
            <a:ext cx="36540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DIFICULTAD EN LA IMPLEMENTACIÓN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1" name="Google Shape;351;g39f43537375_2_265"/>
          <p:cNvSpPr txBox="1"/>
          <p:nvPr/>
        </p:nvSpPr>
        <p:spPr>
          <a:xfrm>
            <a:off x="5220925" y="5214576"/>
            <a:ext cx="3654000" cy="23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implementación y manipulación de punteros adicionales pueden aumentar la complejidad del código en comparación con estructuras de datos más simples.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2" name="Google Shape;352;g39f43537375_2_265"/>
          <p:cNvSpPr txBox="1"/>
          <p:nvPr/>
        </p:nvSpPr>
        <p:spPr>
          <a:xfrm>
            <a:off x="9413150" y="2691607"/>
            <a:ext cx="137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5B4F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53" name="Google Shape;353;g39f43537375_2_265"/>
          <p:cNvSpPr txBox="1"/>
          <p:nvPr/>
        </p:nvSpPr>
        <p:spPr>
          <a:xfrm>
            <a:off x="9213600" y="3953720"/>
            <a:ext cx="36540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PROBLEMAS CON LA ELIMINACIÓN DE NODOS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4" name="Google Shape;354;g39f43537375_2_265"/>
          <p:cNvSpPr txBox="1"/>
          <p:nvPr/>
        </p:nvSpPr>
        <p:spPr>
          <a:xfrm>
            <a:off x="9413150" y="5557476"/>
            <a:ext cx="3654000" cy="28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eliminación de nodos puede ser más complicada, especialmente cuando se trata del último nodo. Se debe tener cuidado para evitar posibles ciclos infinitos o problemas con los punteros.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5" name="Google Shape;355;g39f43537375_2_265"/>
          <p:cNvSpPr txBox="1"/>
          <p:nvPr/>
        </p:nvSpPr>
        <p:spPr>
          <a:xfrm>
            <a:off x="13605374" y="2691607"/>
            <a:ext cx="1378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5B4F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56" name="Google Shape;356;g39f43537375_2_265"/>
          <p:cNvSpPr txBox="1"/>
          <p:nvPr/>
        </p:nvSpPr>
        <p:spPr>
          <a:xfrm>
            <a:off x="13605374" y="3958420"/>
            <a:ext cx="36540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MENOR CLARIDAD EN CIERTOS CONTEXTOS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7" name="Google Shape;357;g39f43537375_2_265"/>
          <p:cNvSpPr txBox="1"/>
          <p:nvPr/>
        </p:nvSpPr>
        <p:spPr>
          <a:xfrm>
            <a:off x="13605374" y="5214576"/>
            <a:ext cx="3654000" cy="23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algunos casos, la naturaleza circular puede complicar la lógica del programa y hacer que el código sea menos claro y más propenso a errores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8" name="Google Shape;358;g39f43537375_2_265"/>
          <p:cNvSpPr/>
          <p:nvPr/>
        </p:nvSpPr>
        <p:spPr>
          <a:xfrm flipH="1" rot="2432349">
            <a:off x="-953207" y="574959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359" name="Google Shape;359;g39f43537375_2_265"/>
          <p:cNvSpPr/>
          <p:nvPr/>
        </p:nvSpPr>
        <p:spPr>
          <a:xfrm rot="4813445">
            <a:off x="-6096412" y="741569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f43537375_3_0"/>
          <p:cNvSpPr txBox="1"/>
          <p:nvPr/>
        </p:nvSpPr>
        <p:spPr>
          <a:xfrm>
            <a:off x="2568321" y="4185771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/>
          </a:p>
        </p:txBody>
      </p:sp>
      <p:sp>
        <p:nvSpPr>
          <p:cNvPr id="369" name="Google Shape;369;g39f43537375_3_0"/>
          <p:cNvSpPr/>
          <p:nvPr/>
        </p:nvSpPr>
        <p:spPr>
          <a:xfrm>
            <a:off x="0" y="3"/>
            <a:ext cx="4695539" cy="6434709"/>
          </a:xfrm>
          <a:custGeom>
            <a:rect b="b" l="l" r="r" t="t"/>
            <a:pathLst>
              <a:path extrusionOk="0" h="8579612" w="6260719">
                <a:moveTo>
                  <a:pt x="0" y="0"/>
                </a:moveTo>
                <a:lnTo>
                  <a:pt x="6260719" y="0"/>
                </a:lnTo>
                <a:lnTo>
                  <a:pt x="6260719" y="8579612"/>
                </a:lnTo>
                <a:lnTo>
                  <a:pt x="0" y="85796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0" name="Google Shape;370;g39f43537375_3_0"/>
          <p:cNvSpPr/>
          <p:nvPr/>
        </p:nvSpPr>
        <p:spPr>
          <a:xfrm flipH="1" rot="2432349">
            <a:off x="-953207" y="574959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371" name="Google Shape;371;g39f43537375_3_0"/>
          <p:cNvSpPr/>
          <p:nvPr/>
        </p:nvSpPr>
        <p:spPr>
          <a:xfrm rot="4813445">
            <a:off x="-6096412" y="741569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"/>
          <p:cNvSpPr txBox="1"/>
          <p:nvPr/>
        </p:nvSpPr>
        <p:spPr>
          <a:xfrm>
            <a:off x="2507390" y="762000"/>
            <a:ext cx="13503300" cy="13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2"/>
          <p:cNvSpPr txBox="1"/>
          <p:nvPr/>
        </p:nvSpPr>
        <p:spPr>
          <a:xfrm>
            <a:off x="6212437" y="3632233"/>
            <a:ext cx="5812805" cy="2901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Pila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Push y 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425" lvl="1" marL="734852" marR="0" rtl="0" algn="just">
              <a:lnSpc>
                <a:spcPct val="16802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03"/>
              <a:buFont typeface="Arial"/>
              <a:buChar char="•"/>
            </a:pPr>
            <a:r>
              <a:rPr b="0" i="0" lang="en-US" sz="34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Enqueue y Dequeue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2"/>
          <p:cNvSpPr/>
          <p:nvPr/>
        </p:nvSpPr>
        <p:spPr>
          <a:xfrm flipH="1" rot="2432349">
            <a:off x="-953207" y="574959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383" name="Google Shape;383;p12"/>
          <p:cNvSpPr/>
          <p:nvPr/>
        </p:nvSpPr>
        <p:spPr>
          <a:xfrm rot="4813445">
            <a:off x="-6096412" y="741569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"/>
          <p:cNvSpPr txBox="1"/>
          <p:nvPr/>
        </p:nvSpPr>
        <p:spPr>
          <a:xfrm>
            <a:off x="2507390" y="762000"/>
            <a:ext cx="13503300" cy="1282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 txBox="1"/>
          <p:nvPr/>
        </p:nvSpPr>
        <p:spPr>
          <a:xfrm>
            <a:off x="4517529" y="3924731"/>
            <a:ext cx="9252942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0" i="0" lang="en-US" sz="3399" u="sng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GeeksforGeeks. (2023). Queue Data Structure.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 flipH="1" rot="2432349">
            <a:off x="-953207" y="574959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395" name="Google Shape;395;p13"/>
          <p:cNvSpPr/>
          <p:nvPr/>
        </p:nvSpPr>
        <p:spPr>
          <a:xfrm rot="4813445">
            <a:off x="-6096412" y="741569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f43537375_1_25"/>
          <p:cNvSpPr txBox="1"/>
          <p:nvPr/>
        </p:nvSpPr>
        <p:spPr>
          <a:xfrm>
            <a:off x="3403239" y="2068077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01" name="Google Shape;401;g39f43537375_1_25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75" y="157529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g39f43537375_1_25"/>
          <p:cNvSpPr txBox="1"/>
          <p:nvPr/>
        </p:nvSpPr>
        <p:spPr>
          <a:xfrm>
            <a:off x="5198625" y="3006775"/>
            <a:ext cx="10239300" cy="10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¿Qué aprendiste sobre la estructura de una lista circular y en qué se diferencia de una lista simple?</a:t>
            </a:r>
            <a:br>
              <a:rPr b="1" lang="en-US" sz="3500">
                <a:solidFill>
                  <a:schemeClr val="dk1"/>
                </a:solidFill>
              </a:rPr>
            </a:br>
            <a:endParaRPr b="1" sz="3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¿Qué ventajas crees que ofrece una lista circular frente a una lista simple o doblemente enlazada?</a:t>
            </a:r>
            <a:br>
              <a:rPr b="1" lang="en-US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-US" sz="3000">
                <a:solidFill>
                  <a:schemeClr val="dk1"/>
                </a:solidFill>
              </a:rPr>
            </a:br>
            <a:endParaRPr b="1" sz="3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29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ctr">
              <a:lnSpc>
                <a:spcPct val="139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39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39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3" name="Google Shape;403;g39f43537375_1_25"/>
          <p:cNvSpPr/>
          <p:nvPr/>
        </p:nvSpPr>
        <p:spPr>
          <a:xfrm flipH="1" rot="2432349">
            <a:off x="-876282" y="5749594"/>
            <a:ext cx="12033439" cy="12393978"/>
          </a:xfrm>
          <a:custGeom>
            <a:rect b="b" l="l" r="r" t="t"/>
            <a:pathLst>
              <a:path extrusionOk="0" h="16524478" w="16043783">
                <a:moveTo>
                  <a:pt x="16043783" y="0"/>
                </a:moveTo>
                <a:lnTo>
                  <a:pt x="0" y="0"/>
                </a:lnTo>
                <a:lnTo>
                  <a:pt x="0" y="16524478"/>
                </a:lnTo>
                <a:lnTo>
                  <a:pt x="16043783" y="16524478"/>
                </a:lnTo>
                <a:lnTo>
                  <a:pt x="1604378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404" name="Google Shape;404;g39f43537375_1_25"/>
          <p:cNvSpPr/>
          <p:nvPr/>
        </p:nvSpPr>
        <p:spPr>
          <a:xfrm rot="4813445">
            <a:off x="-6096412" y="7415695"/>
            <a:ext cx="12271727" cy="12639359"/>
          </a:xfrm>
          <a:custGeom>
            <a:rect b="b" l="l" r="r" t="t"/>
            <a:pathLst>
              <a:path extrusionOk="0" h="16832199" w="16342613">
                <a:moveTo>
                  <a:pt x="0" y="0"/>
                </a:moveTo>
                <a:lnTo>
                  <a:pt x="16342613" y="0"/>
                </a:lnTo>
                <a:lnTo>
                  <a:pt x="16342613" y="16832199"/>
                </a:lnTo>
                <a:lnTo>
                  <a:pt x="0" y="16832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g39f43537375_1_3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0" name="Google Shape;410;g39f43537375_1_31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{3143C815-7D82-49DC-A5DC-9AF3E61066B2}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1" name="Google Shape;411;g39f43537375_1_31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9f43537375_1_31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3" name="Google Shape;413;g39f43537375_1_3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{3143C815-7D82-49DC-A5DC-9AF3E61066B2}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4" name="Google Shape;414;g39f43537375_1_31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9f43537375_1_31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9f43537375_1_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g39f43537375_1_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9f43537375_1_41"/>
          <p:cNvSpPr/>
          <p:nvPr/>
        </p:nvSpPr>
        <p:spPr>
          <a:xfrm rot="-5560312">
            <a:off x="11142285" y="81139"/>
            <a:ext cx="6668081" cy="6867847"/>
          </a:xfrm>
          <a:custGeom>
            <a:rect b="b" l="l" r="r" t="t"/>
            <a:pathLst>
              <a:path extrusionOk="0" h="9147175" w="8881110">
                <a:moveTo>
                  <a:pt x="0" y="0"/>
                </a:moveTo>
                <a:lnTo>
                  <a:pt x="8881110" y="0"/>
                </a:lnTo>
                <a:lnTo>
                  <a:pt x="8881110" y="9147175"/>
                </a:lnTo>
                <a:lnTo>
                  <a:pt x="0" y="9147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423" name="Google Shape;423;g39f43537375_1_41"/>
          <p:cNvSpPr/>
          <p:nvPr/>
        </p:nvSpPr>
        <p:spPr>
          <a:xfrm rot="-5147510">
            <a:off x="9681401" y="-5308910"/>
            <a:ext cx="9432766" cy="9715383"/>
          </a:xfrm>
          <a:custGeom>
            <a:rect b="b" l="l" r="r" t="t"/>
            <a:pathLst>
              <a:path extrusionOk="0" h="12962128" w="12585065">
                <a:moveTo>
                  <a:pt x="0" y="0"/>
                </a:moveTo>
                <a:lnTo>
                  <a:pt x="12585065" y="0"/>
                </a:lnTo>
                <a:lnTo>
                  <a:pt x="12585065" y="12962128"/>
                </a:lnTo>
                <a:lnTo>
                  <a:pt x="0" y="12962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424" name="Google Shape;424;g39f43537375_1_41"/>
          <p:cNvSpPr/>
          <p:nvPr/>
        </p:nvSpPr>
        <p:spPr>
          <a:xfrm flipH="1" rot="-5836017">
            <a:off x="14357310" y="-644776"/>
            <a:ext cx="8676536" cy="8936545"/>
          </a:xfrm>
          <a:custGeom>
            <a:rect b="b" l="l" r="r" t="t"/>
            <a:pathLst>
              <a:path extrusionOk="0" h="11899011" w="11552809">
                <a:moveTo>
                  <a:pt x="11552809" y="0"/>
                </a:moveTo>
                <a:lnTo>
                  <a:pt x="0" y="0"/>
                </a:lnTo>
                <a:lnTo>
                  <a:pt x="0" y="11899011"/>
                </a:lnTo>
                <a:lnTo>
                  <a:pt x="11552809" y="11899011"/>
                </a:lnTo>
                <a:lnTo>
                  <a:pt x="11552809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f43537375_1_46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30" name="Google Shape;430;g39f43537375_1_46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1" name="Google Shape;431;g39f43537375_1_46"/>
          <p:cNvSpPr txBox="1"/>
          <p:nvPr/>
        </p:nvSpPr>
        <p:spPr>
          <a:xfrm>
            <a:off x="2411100" y="7091240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9f43537375_1_46"/>
          <p:cNvSpPr/>
          <p:nvPr/>
        </p:nvSpPr>
        <p:spPr>
          <a:xfrm rot="-5560312">
            <a:off x="11142285" y="81139"/>
            <a:ext cx="6668081" cy="6867847"/>
          </a:xfrm>
          <a:custGeom>
            <a:rect b="b" l="l" r="r" t="t"/>
            <a:pathLst>
              <a:path extrusionOk="0" h="9147175" w="8881110">
                <a:moveTo>
                  <a:pt x="0" y="0"/>
                </a:moveTo>
                <a:lnTo>
                  <a:pt x="8881110" y="0"/>
                </a:lnTo>
                <a:lnTo>
                  <a:pt x="8881110" y="9147175"/>
                </a:lnTo>
                <a:lnTo>
                  <a:pt x="0" y="9147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433" name="Google Shape;433;g39f43537375_1_46"/>
          <p:cNvSpPr/>
          <p:nvPr/>
        </p:nvSpPr>
        <p:spPr>
          <a:xfrm rot="-5147510">
            <a:off x="9681401" y="-5308910"/>
            <a:ext cx="9432766" cy="9715383"/>
          </a:xfrm>
          <a:custGeom>
            <a:rect b="b" l="l" r="r" t="t"/>
            <a:pathLst>
              <a:path extrusionOk="0" h="12962128" w="12585065">
                <a:moveTo>
                  <a:pt x="0" y="0"/>
                </a:moveTo>
                <a:lnTo>
                  <a:pt x="12585065" y="0"/>
                </a:lnTo>
                <a:lnTo>
                  <a:pt x="12585065" y="12962128"/>
                </a:lnTo>
                <a:lnTo>
                  <a:pt x="0" y="12962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  <p:sp>
        <p:nvSpPr>
          <p:cNvPr id="434" name="Google Shape;434;g39f43537375_1_46"/>
          <p:cNvSpPr/>
          <p:nvPr/>
        </p:nvSpPr>
        <p:spPr>
          <a:xfrm flipH="1" rot="-5836017">
            <a:off x="14357310" y="-644776"/>
            <a:ext cx="8676536" cy="8936545"/>
          </a:xfrm>
          <a:custGeom>
            <a:rect b="b" l="l" r="r" t="t"/>
            <a:pathLst>
              <a:path extrusionOk="0" h="11899011" w="11552809">
                <a:moveTo>
                  <a:pt x="11552809" y="0"/>
                </a:moveTo>
                <a:lnTo>
                  <a:pt x="0" y="0"/>
                </a:lnTo>
                <a:lnTo>
                  <a:pt x="0" y="11899011"/>
                </a:lnTo>
                <a:lnTo>
                  <a:pt x="11552809" y="11899011"/>
                </a:lnTo>
                <a:lnTo>
                  <a:pt x="11552809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9" l="0" r="0" t="-39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