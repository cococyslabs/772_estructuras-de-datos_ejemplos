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Play"/>
      <p:regular r:id="rId21"/>
      <p:bold r:id="rId22"/>
    </p:embeddedFont>
    <p:embeddedFont>
      <p:font typeface="Open Sans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VTqrofMMqHWlPKIo6acHFKd4l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4EADC5-FC97-4DE4-BABD-17F3018CB747}">
  <a:tblStyle styleId="{F84EADC5-FC97-4DE4-BABD-17F3018CB7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E9A46F8-D0F1-4665-9923-87F7BB26A52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-bold.fntdata"/><Relationship Id="rId21" Type="http://schemas.openxmlformats.org/officeDocument/2006/relationships/font" Target="fonts/Play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3bd05ff8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9f3bd05ff8_1_85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08694b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b08694b34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08694b34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08694b34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8694b34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b08694b34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08694b34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b08694b34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08694b34a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b08694b3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8694b34a_0_11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2" name="Google Shape;82;g3b08694b34a_0_11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3" name="Google Shape;83;g3b08694b34a_0_1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f3bd05ff8_1_85"/>
          <p:cNvSpPr/>
          <p:nvPr/>
        </p:nvSpPr>
        <p:spPr>
          <a:xfrm>
            <a:off x="14900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9" name="Google Shape;89;g39f3bd05ff8_1_85"/>
          <p:cNvGraphicFramePr/>
          <p:nvPr/>
        </p:nvGraphicFramePr>
        <p:xfrm>
          <a:off x="11506200" y="2233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{F84EADC5-FC97-4DE4-BABD-17F3018CB747}</a:tableStyleId>
              </a:tblPr>
              <a:tblGrid>
                <a:gridCol w="2989950"/>
                <a:gridCol w="3296600"/>
              </a:tblGrid>
              <a:tr h="128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/>
                        <a:t>DIA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2300"/>
                        <a:t>00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300"/>
                        <a:t>0</a:t>
                      </a:r>
                      <a:r>
                        <a:rPr lang="en-US" sz="2300"/>
                        <a:t>0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300"/>
                        <a:t>2026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/>
                        <a:t>00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300"/>
                        <a:t>0</a:t>
                      </a:r>
                      <a:r>
                        <a:rPr lang="en-US" sz="2300" u="none" cap="none" strike="noStrike"/>
                        <a:t>0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g39f3bd05ff8_1_85"/>
          <p:cNvSpPr txBox="1"/>
          <p:nvPr/>
        </p:nvSpPr>
        <p:spPr>
          <a:xfrm>
            <a:off x="3953100" y="5029200"/>
            <a:ext cx="10984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 DATOS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9f3bd05ff8_1_85"/>
          <p:cNvSpPr txBox="1"/>
          <p:nvPr/>
        </p:nvSpPr>
        <p:spPr>
          <a:xfrm>
            <a:off x="5228369" y="6138049"/>
            <a:ext cx="84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 txBox="1"/>
          <p:nvPr/>
        </p:nvSpPr>
        <p:spPr>
          <a:xfrm>
            <a:off x="3686175" y="3915650"/>
            <a:ext cx="124707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2979268" y="7426039"/>
            <a:ext cx="3284265" cy="1736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Puedes usar el 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diseño que desees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conserva la estructura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</a:t>
            </a:r>
            <a:endParaRPr/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405646" y="3692152"/>
            <a:ext cx="7269518" cy="845385"/>
            <a:chOff x="0" y="-76200"/>
            <a:chExt cx="309500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29807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>
            <a:off x="651748" y="-320625"/>
            <a:ext cx="8931198" cy="3120475"/>
            <a:chOff x="0" y="-95250"/>
            <a:chExt cx="8187000" cy="4160633"/>
          </a:xfrm>
        </p:grpSpPr>
        <p:sp>
          <p:nvSpPr>
            <p:cNvPr id="112" name="Google Shape;112;p2"/>
            <p:cNvSpPr txBox="1"/>
            <p:nvPr/>
          </p:nvSpPr>
          <p:spPr>
            <a:xfrm>
              <a:off x="0" y="986783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631324" y="5429851"/>
            <a:ext cx="8190114" cy="845568"/>
            <a:chOff x="0" y="-76197"/>
            <a:chExt cx="3707276" cy="3600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208558" y="-76197"/>
              <a:ext cx="33843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956273" y="6481338"/>
            <a:ext cx="6168263" cy="845385"/>
            <a:chOff x="0" y="-76200"/>
            <a:chExt cx="2626141" cy="359923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/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944725" y="4586573"/>
            <a:ext cx="5935056" cy="845385"/>
            <a:chOff x="0" y="-76200"/>
            <a:chExt cx="2526853" cy="359923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866989" y="7481682"/>
            <a:ext cx="2514689" cy="845385"/>
            <a:chOff x="0" y="-76200"/>
            <a:chExt cx="1070630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95633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/>
          <p:nvPr/>
        </p:nvSpPr>
        <p:spPr>
          <a:xfrm>
            <a:off x="878654" y="57762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2"/>
          <p:cNvSpPr/>
          <p:nvPr/>
        </p:nvSpPr>
        <p:spPr>
          <a:xfrm>
            <a:off x="878654" y="67760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2"/>
          <p:cNvSpPr/>
          <p:nvPr/>
        </p:nvSpPr>
        <p:spPr>
          <a:xfrm>
            <a:off x="878654" y="77769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"/>
          <p:cNvSpPr/>
          <p:nvPr/>
        </p:nvSpPr>
        <p:spPr>
          <a:xfrm>
            <a:off x="13473107" y="514350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2"/>
          <p:cNvSpPr txBox="1"/>
          <p:nvPr/>
        </p:nvSpPr>
        <p:spPr>
          <a:xfrm>
            <a:off x="14072123" y="5910115"/>
            <a:ext cx="3428436" cy="1552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¡RECORDATORIO!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clase debe durar los 100 minutos que equivale a 1 hora con 40 minutos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/>
        </p:nvSpPr>
        <p:spPr>
          <a:xfrm>
            <a:off x="1828603" y="783425"/>
            <a:ext cx="13310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3435763" y="4156571"/>
            <a:ext cx="11397424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3"/>
          <p:cNvSpPr txBox="1"/>
          <p:nvPr/>
        </p:nvSpPr>
        <p:spPr>
          <a:xfrm>
            <a:off x="14046075" y="6030500"/>
            <a:ext cx="3428700" cy="4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2090111" y="2242623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4337966" y="317778"/>
            <a:ext cx="961206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4337966" y="3698875"/>
            <a:ext cx="8869033" cy="28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Seleccionar 5 estudiantes de manera aleatoria a través de sorteo para que se presenten ante la clase.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13371222" y="4942444"/>
            <a:ext cx="4815461" cy="4762929"/>
          </a:xfrm>
          <a:custGeom>
            <a:rect b="b" l="l" r="r" t="t"/>
            <a:pathLst>
              <a:path extrusionOk="0"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9"/>
                </a:lnTo>
                <a:lnTo>
                  <a:pt x="0" y="4762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4"/>
          <p:cNvSpPr txBox="1"/>
          <p:nvPr/>
        </p:nvSpPr>
        <p:spPr>
          <a:xfrm>
            <a:off x="13874788" y="5844712"/>
            <a:ext cx="3808329" cy="3723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¡Es tu turno! Conociendo a algunos compañeros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Para fomentar un ambiente dinámico y participativo, cinco estudiantes serán seleccionados al azar para presentarse ante la clase.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Cada estudiante deberá compartir: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3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2245583" y="2811227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/>
          <p:nvPr/>
        </p:nvSpPr>
        <p:spPr>
          <a:xfrm>
            <a:off x="2116023" y="428019"/>
            <a:ext cx="14055954" cy="1688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2116023" y="4431710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Kahoot.it</a:t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5"/>
          <p:cNvSpPr txBox="1"/>
          <p:nvPr/>
        </p:nvSpPr>
        <p:spPr>
          <a:xfrm>
            <a:off x="14021064" y="5820568"/>
            <a:ext cx="3238236" cy="387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2116023" y="2828408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/>
        </p:nvSpPr>
        <p:spPr>
          <a:xfrm>
            <a:off x="1843948" y="2289328"/>
            <a:ext cx="12625499" cy="1640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412317" y="560459"/>
            <a:ext cx="17463365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6"/>
          <p:cNvSpPr txBox="1"/>
          <p:nvPr/>
        </p:nvSpPr>
        <p:spPr>
          <a:xfrm>
            <a:off x="14141311" y="6461503"/>
            <a:ext cx="3238236" cy="218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/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56614" y="4488814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843948" y="1568914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/>
        </p:nvSpPr>
        <p:spPr>
          <a:xfrm>
            <a:off x="2325899" y="355825"/>
            <a:ext cx="136362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DEL NUEVO CURSO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2116023" y="3287893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kahoot.it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13395371" y="5711002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9" y="0"/>
                </a:lnTo>
                <a:lnTo>
                  <a:pt x="4626469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7"/>
          <p:cNvSpPr txBox="1"/>
          <p:nvPr/>
        </p:nvSpPr>
        <p:spPr>
          <a:xfrm>
            <a:off x="14089487" y="6819434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2116023" y="2475830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08694b34a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4" name="Google Shape;184;g3b08694b34a_0_0"/>
          <p:cNvSpPr txBox="1"/>
          <p:nvPr/>
        </p:nvSpPr>
        <p:spPr>
          <a:xfrm>
            <a:off x="11667950" y="218925"/>
            <a:ext cx="62040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b08694b34a_0_0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g3b08694b34a_0_0"/>
          <p:cNvSpPr txBox="1"/>
          <p:nvPr/>
        </p:nvSpPr>
        <p:spPr>
          <a:xfrm>
            <a:off x="14236857" y="6780527"/>
            <a:ext cx="3238200" cy="24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la referencias que apliquen de aquel materia, bibliográfico o paginas de internet del cual te has basado para generar tu presentación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b08694b34a_0_0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b08694b34a_0_0"/>
          <p:cNvSpPr txBox="1"/>
          <p:nvPr/>
        </p:nvSpPr>
        <p:spPr>
          <a:xfrm>
            <a:off x="1483425" y="4667250"/>
            <a:ext cx="119637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81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Ahmed, K. (2025, May 30). Data Structures and Algorithms Roadmap. Retrieved December 15, 2025, from roadmap.sh website: https://roadmap.sh/datastructures-and-algorithms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‌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08694b34a_0_8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4" name="Google Shape;194;g3b08694b34a_0_8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g3b08694b34a_0_8"/>
          <p:cNvSpPr txBox="1"/>
          <p:nvPr/>
        </p:nvSpPr>
        <p:spPr>
          <a:xfrm>
            <a:off x="14236857" y="6780527"/>
            <a:ext cx="32382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Crearas el ejemplo práctico que tu impartirá en la clase como refuerzo de la teoria dada.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b08694b34a_0_8" title="Gemini_Generated_Image_u2i06ou2i06ou2i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08694b34a_0_15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2" name="Google Shape;202;g3b08694b34a_0_15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b08694b34a_0_1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g3b08694b34a_0_15"/>
          <p:cNvSpPr txBox="1"/>
          <p:nvPr/>
        </p:nvSpPr>
        <p:spPr>
          <a:xfrm>
            <a:off x="14236857" y="6780527"/>
            <a:ext cx="32382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Crearas la actividad donde los alumnos practicarán por sí solos los conocimientos abordados en esta sesión.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b08694b34a_0_2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0" name="Google Shape;210;g3b08694b34a_0_22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{3E9A46F8-D0F1-4665-9923-87F7BB26A523}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g3b08694b34a_0_2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b08694b34a_0_2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3" name="Google Shape;213;g3b08694b34a_0_2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{3E9A46F8-D0F1-4665-9923-87F7BB26A523}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g3b08694b34a_0_2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b08694b34a_0_2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08694b34a_0_32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b08694b34a_0_32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