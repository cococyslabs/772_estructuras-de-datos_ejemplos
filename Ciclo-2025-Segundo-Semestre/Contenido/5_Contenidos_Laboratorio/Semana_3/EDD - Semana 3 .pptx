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10287000" cx="18288000"/>
  <p:notesSz cx="6858000" cy="9144000"/>
  <p:embeddedFontLst>
    <p:embeddedFont>
      <p:font typeface="Lobster"/>
      <p:regular r:id="rId30"/>
    </p:embeddedFont>
    <p:embeddedFont>
      <p:font typeface="Pacifico"/>
      <p:regular r:id="rId31"/>
    </p:embeddedFont>
    <p:embeddedFont>
      <p:font typeface="Open Sans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iw+Ir7pR2bvDNkk8lutm78SkXu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854E8A-1C52-459C-BB29-C7FFC77AD73C}">
  <a:tblStyle styleId="{F4854E8A-1C52-459C-BB29-C7FFC77AD73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acifico-regular.fntdata"/><Relationship Id="rId30" Type="http://schemas.openxmlformats.org/officeDocument/2006/relationships/font" Target="fonts/Lobster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0871fea5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b0871fea5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7" name="Google Shape;97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1" name="Google Shape;101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1" name="Google Shape;111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2" name="Google Shape;112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5" name="Google Shape;115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7" name="Google Shape;157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8" name="Google Shape;158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1" name="Google Shape;161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8" name="Google Shape;168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9" name="Google Shape;169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2" name="Google Shape;172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0" name="Google Shape;180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1" name="Google Shape;181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4" name="Google Shape;184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5" name="Google Shape;195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6" name="Google Shape;196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0" name="Google Shape;210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1" name="Google Shape;211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0" name="Google Shape;220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1" name="Google Shape;221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4" name="Google Shape;234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5" name="Google Shape;235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7" name="Google Shape;247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8" name="Google Shape;248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1" name="Google Shape;261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2" name="Google Shape;262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5" name="Google Shape;265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6" name="Google Shape;276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7" name="Google Shape;277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0" name="Google Shape;280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9" name="Google Shape;289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0" name="Google Shape;290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3" name="Google Shape;293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f3f31b0cf_0_35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5" name="Google Shape;305;g39f3f31b0cf_0_35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6" name="Google Shape;306;g39f3f31b0cf_0_35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9f3f31b0cf_0_35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9f3f31b0cf_0_35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9" name="Google Shape;309;g39f3f31b0cf_0_35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f3f31b0cf_0_49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1" name="Google Shape;321;g39f3f31b0cf_0_49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2" name="Google Shape;322;g39f3f31b0cf_0_497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9f3f31b0cf_0_49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9f3f31b0cf_0_497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5" name="Google Shape;325;g39f3f31b0cf_0_49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2" name="Google Shape;342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3" name="Google Shape;343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6" name="Google Shape;346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3" name="Google Shape;353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54" name="Google Shape;354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7" name="Google Shape;357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5" name="Google Shape;365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6" name="Google Shape;366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9" name="Google Shape;369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9f3f31b0cf_0_5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9f3f31b0cf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f3f31b0cf_0_5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9f3f31b0cf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f3f31b0cf_0_5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9f3f31b0cf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f3f31b0cf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g39f3f31b0cf_0_5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3f31b0cf_0_67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6" name="Google Shape;86;g39f3f31b0cf_0_67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7" name="Google Shape;87;g39f3f31b0cf_0_67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Relationship Id="rId5" Type="http://schemas.openxmlformats.org/officeDocument/2006/relationships/image" Target="../media/image2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w3schools.io/languages/perl-tutorials/" TargetMode="External"/><Relationship Id="rId4" Type="http://schemas.openxmlformats.org/officeDocument/2006/relationships/hyperlink" Target="https://www.youtube.com/watch?v=6aRXwhQbU04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b0871fea5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b0871fea5c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b0871fea5c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CURSO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/>
        </p:nvSpPr>
        <p:spPr>
          <a:xfrm>
            <a:off x="1063303" y="7205119"/>
            <a:ext cx="630350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 de datos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2655307" y="2579849"/>
            <a:ext cx="12977386" cy="3193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7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Principios del Lenguaje de programación a utilizar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1063303" y="8630951"/>
            <a:ext cx="6981379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1028700" y="9096375"/>
            <a:ext cx="66675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228600" y="9473954"/>
            <a:ext cx="8115300" cy="533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pic>
        <p:nvPicPr>
          <p:cNvPr id="108" name="Google Shape;10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176619" y="4699462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1558478" y="4487383"/>
            <a:ext cx="6463385" cy="1002548"/>
            <a:chOff x="0" y="-209550"/>
            <a:chExt cx="8617847" cy="133673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8617847" cy="1127180"/>
            </a:xfrm>
            <a:custGeom>
              <a:rect b="b" l="l" r="r" t="t"/>
              <a:pathLst>
                <a:path extrusionOk="0" h="1127180" w="8617847">
                  <a:moveTo>
                    <a:pt x="0" y="0"/>
                  </a:moveTo>
                  <a:lnTo>
                    <a:pt x="8617847" y="0"/>
                  </a:lnTo>
                  <a:lnTo>
                    <a:pt x="8617847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0" y="-209550"/>
              <a:ext cx="8617847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Tipos de datos </a:t>
              </a:r>
              <a:r>
                <a:rPr lang="en-US" sz="2799"/>
                <a:t>básicos</a:t>
              </a:r>
              <a:endParaRPr/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87865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>
            <a:off x="1866989" y="3303305"/>
            <a:ext cx="4115181" cy="1267206"/>
          </a:xfrm>
          <a:custGeom>
            <a:rect b="b" l="l" r="r" t="t"/>
            <a:pathLst>
              <a:path extrusionOk="0" h="1689608" w="5486908">
                <a:moveTo>
                  <a:pt x="4458208" y="0"/>
                </a:moveTo>
                <a:lnTo>
                  <a:pt x="0" y="0"/>
                </a:lnTo>
                <a:lnTo>
                  <a:pt x="0" y="1689608"/>
                </a:lnTo>
                <a:lnTo>
                  <a:pt x="4458208" y="1689608"/>
                </a:lnTo>
                <a:lnTo>
                  <a:pt x="5486908" y="844804"/>
                </a:lnTo>
                <a:lnTo>
                  <a:pt x="44582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23" name="Google Shape;123;p2"/>
          <p:cNvGrpSpPr/>
          <p:nvPr/>
        </p:nvGrpSpPr>
        <p:grpSpPr>
          <a:xfrm>
            <a:off x="1866989" y="2856821"/>
            <a:ext cx="3681207" cy="1713646"/>
            <a:chOff x="0" y="-209550"/>
            <a:chExt cx="4908276" cy="2284862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4908276" cy="2075312"/>
            </a:xfrm>
            <a:custGeom>
              <a:rect b="b" l="l" r="r" t="t"/>
              <a:pathLst>
                <a:path extrusionOk="0"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5" name="Google Shape;125;p2"/>
            <p:cNvSpPr txBox="1"/>
            <p:nvPr/>
          </p:nvSpPr>
          <p:spPr>
            <a:xfrm>
              <a:off x="0" y="-209550"/>
              <a:ext cx="4908276" cy="228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>
            <a:off x="651754" y="3429735"/>
            <a:ext cx="753904" cy="872966"/>
          </a:xfrm>
          <a:custGeom>
            <a:rect b="b" l="l" r="r" t="t"/>
            <a:pathLst>
              <a:path extrusionOk="0" h="1163955" w="1005205">
                <a:moveTo>
                  <a:pt x="0" y="0"/>
                </a:moveTo>
                <a:lnTo>
                  <a:pt x="1005205" y="0"/>
                </a:lnTo>
                <a:lnTo>
                  <a:pt x="1005205" y="1163955"/>
                </a:lnTo>
                <a:lnTo>
                  <a:pt x="0" y="116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" l="0" r="0" t="-35"/>
            </a:stretch>
          </a:blipFill>
          <a:ln>
            <a:noFill/>
          </a:ln>
        </p:spPr>
      </p:sp>
      <p:sp>
        <p:nvSpPr>
          <p:cNvPr id="127" name="Google Shape;127;p2"/>
          <p:cNvSpPr/>
          <p:nvPr/>
        </p:nvSpPr>
        <p:spPr>
          <a:xfrm>
            <a:off x="176619" y="5623280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28" name="Google Shape;128;p2"/>
          <p:cNvGrpSpPr/>
          <p:nvPr/>
        </p:nvGrpSpPr>
        <p:grpSpPr>
          <a:xfrm>
            <a:off x="1558478" y="5454660"/>
            <a:ext cx="5993602" cy="1002548"/>
            <a:chOff x="0" y="-209550"/>
            <a:chExt cx="7991470" cy="1336730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7991470" cy="1127180"/>
            </a:xfrm>
            <a:custGeom>
              <a:rect b="b" l="l" r="r" t="t"/>
              <a:pathLst>
                <a:path extrusionOk="0" h="1127180" w="7991470">
                  <a:moveTo>
                    <a:pt x="0" y="0"/>
                  </a:moveTo>
                  <a:lnTo>
                    <a:pt x="7991470" y="0"/>
                  </a:lnTo>
                  <a:lnTo>
                    <a:pt x="7991470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0" y="-209550"/>
              <a:ext cx="7991470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Estructuras de control</a:t>
              </a:r>
              <a:endParaRPr/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176619" y="6604853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32" name="Google Shape;132;p2"/>
          <p:cNvGrpSpPr/>
          <p:nvPr/>
        </p:nvGrpSpPr>
        <p:grpSpPr>
          <a:xfrm>
            <a:off x="1558478" y="6323668"/>
            <a:ext cx="7391958" cy="1002548"/>
            <a:chOff x="0" y="-209550"/>
            <a:chExt cx="9855944" cy="1336730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9855944" cy="1127180"/>
            </a:xfrm>
            <a:custGeom>
              <a:rect b="b" l="l" r="r" t="t"/>
              <a:pathLst>
                <a:path extrusionOk="0" h="1127180" w="9855944">
                  <a:moveTo>
                    <a:pt x="0" y="0"/>
                  </a:moveTo>
                  <a:lnTo>
                    <a:pt x="9855944" y="0"/>
                  </a:lnTo>
                  <a:lnTo>
                    <a:pt x="9855944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4" name="Google Shape;134;p2"/>
            <p:cNvSpPr txBox="1"/>
            <p:nvPr/>
          </p:nvSpPr>
          <p:spPr>
            <a:xfrm>
              <a:off x="0" y="-209550"/>
              <a:ext cx="9855944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/>
                <a:t>Métodos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y funciones</a:t>
              </a:r>
              <a:endParaRPr/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176619" y="7528435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36" name="Google Shape;136;p2"/>
          <p:cNvGrpSpPr/>
          <p:nvPr/>
        </p:nvGrpSpPr>
        <p:grpSpPr>
          <a:xfrm>
            <a:off x="1558478" y="7359552"/>
            <a:ext cx="9134060" cy="1002548"/>
            <a:chOff x="0" y="-209550"/>
            <a:chExt cx="12178747" cy="1336730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2178747" cy="1127180"/>
            </a:xfrm>
            <a:custGeom>
              <a:rect b="b" l="l" r="r" t="t"/>
              <a:pathLst>
                <a:path extrusionOk="0" h="1127180" w="12178747">
                  <a:moveTo>
                    <a:pt x="0" y="0"/>
                  </a:moveTo>
                  <a:lnTo>
                    <a:pt x="12178747" y="0"/>
                  </a:lnTo>
                  <a:lnTo>
                    <a:pt x="12178747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209550"/>
              <a:ext cx="12178747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Manejo de memoria</a:t>
              </a:r>
              <a:endParaRPr/>
            </a:p>
          </p:txBody>
        </p:sp>
      </p:grpSp>
      <p:sp>
        <p:nvSpPr>
          <p:cNvPr id="139" name="Google Shape;139;p2"/>
          <p:cNvSpPr/>
          <p:nvPr/>
        </p:nvSpPr>
        <p:spPr>
          <a:xfrm>
            <a:off x="878654" y="562328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</p:sp>
      <p:sp>
        <p:nvSpPr>
          <p:cNvPr id="140" name="Google Shape;140;p2"/>
          <p:cNvSpPr/>
          <p:nvPr/>
        </p:nvSpPr>
        <p:spPr>
          <a:xfrm>
            <a:off x="878654" y="6604853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</p:sp>
      <p:sp>
        <p:nvSpPr>
          <p:cNvPr id="141" name="Google Shape;141;p2"/>
          <p:cNvSpPr/>
          <p:nvPr/>
        </p:nvSpPr>
        <p:spPr>
          <a:xfrm>
            <a:off x="878654" y="760463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14831038" y="8154729"/>
            <a:ext cx="4856524" cy="4114800"/>
          </a:xfrm>
          <a:custGeom>
            <a:rect b="b" l="l" r="r" t="t"/>
            <a:pathLst>
              <a:path extrusionOk="0" h="4114800" w="4856524">
                <a:moveTo>
                  <a:pt x="0" y="0"/>
                </a:moveTo>
                <a:lnTo>
                  <a:pt x="4856524" y="0"/>
                </a:lnTo>
                <a:lnTo>
                  <a:pt x="48565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 txBox="1"/>
          <p:nvPr/>
        </p:nvSpPr>
        <p:spPr>
          <a:xfrm>
            <a:off x="651749" y="233725"/>
            <a:ext cx="7710301" cy="256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10105990" y="143117"/>
            <a:ext cx="8416800" cy="255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/>
          </a:p>
        </p:txBody>
      </p:sp>
      <p:grpSp>
        <p:nvGrpSpPr>
          <p:cNvPr id="145" name="Google Shape;145;p2"/>
          <p:cNvGrpSpPr/>
          <p:nvPr/>
        </p:nvGrpSpPr>
        <p:grpSpPr>
          <a:xfrm>
            <a:off x="1558474" y="8450425"/>
            <a:ext cx="12011625" cy="1002600"/>
            <a:chOff x="-5" y="-209553"/>
            <a:chExt cx="16015500" cy="1336800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12178747" cy="1127180"/>
            </a:xfrm>
            <a:custGeom>
              <a:rect b="b" l="l" r="r" t="t"/>
              <a:pathLst>
                <a:path extrusionOk="0" h="1127180" w="12178747">
                  <a:moveTo>
                    <a:pt x="0" y="0"/>
                  </a:moveTo>
                  <a:lnTo>
                    <a:pt x="12178747" y="0"/>
                  </a:lnTo>
                  <a:lnTo>
                    <a:pt x="12178747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-5" y="-209553"/>
              <a:ext cx="16015500" cy="13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/>
                <a:t>Definición y </a:t>
              </a:r>
              <a:r>
                <a:rPr lang="en-US" sz="2799"/>
                <a:t>características</a:t>
              </a:r>
              <a:r>
                <a:rPr lang="en-US" sz="2799"/>
                <a:t> de la lista simplemente enlazada</a:t>
              </a:r>
              <a:endParaRPr/>
            </a:p>
          </p:txBody>
        </p:sp>
      </p:grpSp>
      <p:sp>
        <p:nvSpPr>
          <p:cNvPr id="148" name="Google Shape;148;p2"/>
          <p:cNvSpPr/>
          <p:nvPr/>
        </p:nvSpPr>
        <p:spPr>
          <a:xfrm>
            <a:off x="878654" y="869551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9" t="0"/>
            </a:stretch>
          </a:blipFill>
          <a:ln>
            <a:noFill/>
          </a:ln>
        </p:spPr>
      </p:sp>
      <p:grpSp>
        <p:nvGrpSpPr>
          <p:cNvPr id="149" name="Google Shape;149;p2"/>
          <p:cNvGrpSpPr/>
          <p:nvPr/>
        </p:nvGrpSpPr>
        <p:grpSpPr>
          <a:xfrm>
            <a:off x="1558478" y="9432003"/>
            <a:ext cx="9134100" cy="1002600"/>
            <a:chOff x="0" y="-209550"/>
            <a:chExt cx="12178800" cy="1336800"/>
          </a:xfrm>
        </p:grpSpPr>
        <p:sp>
          <p:nvSpPr>
            <p:cNvPr id="150" name="Google Shape;150;p2"/>
            <p:cNvSpPr/>
            <p:nvPr/>
          </p:nvSpPr>
          <p:spPr>
            <a:xfrm>
              <a:off x="0" y="0"/>
              <a:ext cx="12178747" cy="1127180"/>
            </a:xfrm>
            <a:custGeom>
              <a:rect b="b" l="l" r="r" t="t"/>
              <a:pathLst>
                <a:path extrusionOk="0" h="1127180" w="12178747">
                  <a:moveTo>
                    <a:pt x="0" y="0"/>
                  </a:moveTo>
                  <a:lnTo>
                    <a:pt x="12178747" y="0"/>
                  </a:lnTo>
                  <a:lnTo>
                    <a:pt x="12178747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1" name="Google Shape;151;p2"/>
            <p:cNvSpPr txBox="1"/>
            <p:nvPr/>
          </p:nvSpPr>
          <p:spPr>
            <a:xfrm>
              <a:off x="0" y="-209550"/>
              <a:ext cx="12178800" cy="13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/>
                <a:t>Operaciones de una lista simplemente enlazada</a:t>
              </a:r>
              <a:endParaRPr/>
            </a:p>
          </p:txBody>
        </p:sp>
      </p:grpSp>
      <p:sp>
        <p:nvSpPr>
          <p:cNvPr id="152" name="Google Shape;152;p2"/>
          <p:cNvSpPr/>
          <p:nvPr/>
        </p:nvSpPr>
        <p:spPr>
          <a:xfrm>
            <a:off x="878654" y="967708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9" t="0"/>
            </a:stretch>
          </a:blipFill>
          <a:ln>
            <a:noFill/>
          </a:ln>
        </p:spPr>
      </p:sp>
      <p:sp>
        <p:nvSpPr>
          <p:cNvPr id="153" name="Google Shape;153;p2"/>
          <p:cNvSpPr txBox="1"/>
          <p:nvPr/>
        </p:nvSpPr>
        <p:spPr>
          <a:xfrm>
            <a:off x="10397925" y="3202575"/>
            <a:ext cx="58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https://www.youtube.com/watch?v=74_7LrRe5DI</a:t>
            </a:r>
            <a:endParaRPr sz="2000"/>
          </a:p>
        </p:txBody>
      </p:sp>
      <p:sp>
        <p:nvSpPr>
          <p:cNvPr id="154" name="Google Shape;154;p2"/>
          <p:cNvSpPr txBox="1"/>
          <p:nvPr/>
        </p:nvSpPr>
        <p:spPr>
          <a:xfrm>
            <a:off x="10397925" y="3954900"/>
            <a:ext cx="599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https://www.youtube.com/watch?v=6aRXwhQbU04&amp;t=6s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/>
          <p:nvPr/>
        </p:nvSpPr>
        <p:spPr>
          <a:xfrm>
            <a:off x="2360030" y="3720904"/>
            <a:ext cx="4920538" cy="4114800"/>
          </a:xfrm>
          <a:custGeom>
            <a:rect b="b" l="l" r="r" t="t"/>
            <a:pathLst>
              <a:path extrusionOk="0" h="4114800" w="4920538">
                <a:moveTo>
                  <a:pt x="0" y="0"/>
                </a:moveTo>
                <a:lnTo>
                  <a:pt x="4920538" y="0"/>
                </a:lnTo>
                <a:lnTo>
                  <a:pt x="492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3"/>
          <p:cNvSpPr/>
          <p:nvPr/>
        </p:nvSpPr>
        <p:spPr>
          <a:xfrm>
            <a:off x="9653732" y="2599825"/>
            <a:ext cx="6356958" cy="6356958"/>
          </a:xfrm>
          <a:custGeom>
            <a:rect b="b" l="l" r="r" t="t"/>
            <a:pathLst>
              <a:path extrusionOk="0"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3"/>
          <p:cNvSpPr txBox="1"/>
          <p:nvPr/>
        </p:nvSpPr>
        <p:spPr>
          <a:xfrm>
            <a:off x="2507390" y="762000"/>
            <a:ext cx="13503300" cy="128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Honestidad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/>
          <p:nvPr/>
        </p:nvSpPr>
        <p:spPr>
          <a:xfrm>
            <a:off x="13308879" y="5974478"/>
            <a:ext cx="4114219" cy="3903366"/>
          </a:xfrm>
          <a:custGeom>
            <a:rect b="b" l="l" r="r" t="t"/>
            <a:pathLst>
              <a:path extrusionOk="0" h="3903366" w="4114219">
                <a:moveTo>
                  <a:pt x="0" y="0"/>
                </a:moveTo>
                <a:lnTo>
                  <a:pt x="4114220" y="0"/>
                </a:lnTo>
                <a:lnTo>
                  <a:pt x="4114220" y="3903365"/>
                </a:lnTo>
                <a:lnTo>
                  <a:pt x="0" y="3903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4"/>
          <p:cNvSpPr txBox="1"/>
          <p:nvPr/>
        </p:nvSpPr>
        <p:spPr>
          <a:xfrm>
            <a:off x="3398731" y="3406518"/>
            <a:ext cx="11490538" cy="3235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Aplicar principios de programación y estructuras de datos utilizando distintos lenguajes. 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11231669" y="-52858"/>
            <a:ext cx="7315200" cy="3697501"/>
          </a:xfrm>
          <a:custGeom>
            <a:rect b="b" l="l" r="r" t="t"/>
            <a:pathLst>
              <a:path extrusionOk="0" h="3697501" w="7315200">
                <a:moveTo>
                  <a:pt x="0" y="0"/>
                </a:moveTo>
                <a:lnTo>
                  <a:pt x="7315200" y="0"/>
                </a:lnTo>
                <a:lnTo>
                  <a:pt x="7315200" y="3697501"/>
                </a:lnTo>
                <a:lnTo>
                  <a:pt x="0" y="3697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4"/>
          <p:cNvSpPr txBox="1"/>
          <p:nvPr/>
        </p:nvSpPr>
        <p:spPr>
          <a:xfrm>
            <a:off x="2636922" y="355621"/>
            <a:ext cx="6740149" cy="2184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/>
          <p:nvPr/>
        </p:nvSpPr>
        <p:spPr>
          <a:xfrm>
            <a:off x="8327777" y="3749763"/>
            <a:ext cx="6391793" cy="1934359"/>
          </a:xfrm>
          <a:custGeom>
            <a:rect b="b" l="l" r="r" t="t"/>
            <a:pathLst>
              <a:path extrusionOk="0" h="1934359" w="6391793">
                <a:moveTo>
                  <a:pt x="0" y="0"/>
                </a:moveTo>
                <a:lnTo>
                  <a:pt x="6391794" y="0"/>
                </a:lnTo>
                <a:lnTo>
                  <a:pt x="6391794" y="1934359"/>
                </a:lnTo>
                <a:lnTo>
                  <a:pt x="0" y="1934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5"/>
          <p:cNvSpPr/>
          <p:nvPr/>
        </p:nvSpPr>
        <p:spPr>
          <a:xfrm>
            <a:off x="8327777" y="7316518"/>
            <a:ext cx="6132487" cy="1740662"/>
          </a:xfrm>
          <a:custGeom>
            <a:rect b="b" l="l" r="r" t="t"/>
            <a:pathLst>
              <a:path extrusionOk="0" h="1740662" w="6132487">
                <a:moveTo>
                  <a:pt x="0" y="0"/>
                </a:moveTo>
                <a:lnTo>
                  <a:pt x="6132487" y="0"/>
                </a:lnTo>
                <a:lnTo>
                  <a:pt x="6132487" y="1740662"/>
                </a:lnTo>
                <a:lnTo>
                  <a:pt x="0" y="17406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5"/>
          <p:cNvSpPr txBox="1"/>
          <p:nvPr/>
        </p:nvSpPr>
        <p:spPr>
          <a:xfrm>
            <a:off x="1374889" y="651389"/>
            <a:ext cx="15334363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Tipos de datos basicos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1374889" y="3258591"/>
            <a:ext cx="939403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1374889" y="4321688"/>
            <a:ext cx="5453211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Valores de numeros entre -2,147,483,648 y 2,147,483,647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1373489" y="6133210"/>
            <a:ext cx="1658392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Float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1185471" y="7429498"/>
            <a:ext cx="5453211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Valores de numeros fraccionarios. Suficiente para almacenar entre 6 y 7 digitos decimales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8264413" y="3412004"/>
            <a:ext cx="8444839" cy="1731496"/>
          </a:xfrm>
          <a:custGeom>
            <a:rect b="b" l="l" r="r" t="t"/>
            <a:pathLst>
              <a:path extrusionOk="0" h="1731496" w="8444839">
                <a:moveTo>
                  <a:pt x="0" y="0"/>
                </a:moveTo>
                <a:lnTo>
                  <a:pt x="8444839" y="0"/>
                </a:lnTo>
                <a:lnTo>
                  <a:pt x="8444839" y="1731496"/>
                </a:lnTo>
                <a:lnTo>
                  <a:pt x="0" y="1731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6"/>
          <p:cNvSpPr/>
          <p:nvPr/>
        </p:nvSpPr>
        <p:spPr>
          <a:xfrm>
            <a:off x="8264413" y="6218751"/>
            <a:ext cx="9953848" cy="2602612"/>
          </a:xfrm>
          <a:custGeom>
            <a:rect b="b" l="l" r="r" t="t"/>
            <a:pathLst>
              <a:path extrusionOk="0" h="2602612" w="9953848">
                <a:moveTo>
                  <a:pt x="0" y="0"/>
                </a:moveTo>
                <a:lnTo>
                  <a:pt x="9953848" y="0"/>
                </a:lnTo>
                <a:lnTo>
                  <a:pt x="9953848" y="2602612"/>
                </a:lnTo>
                <a:lnTo>
                  <a:pt x="0" y="26026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6"/>
          <p:cNvSpPr txBox="1"/>
          <p:nvPr/>
        </p:nvSpPr>
        <p:spPr>
          <a:xfrm>
            <a:off x="1374889" y="651389"/>
            <a:ext cx="15334363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Tipos de datos basicos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1161174" y="6123501"/>
            <a:ext cx="146298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Bool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1161174" y="3827976"/>
            <a:ext cx="5453211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Almacena una secuencia de caracteres, rodeado entre comillas dobles.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1161174" y="2402232"/>
            <a:ext cx="1958876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String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1161174" y="7763071"/>
            <a:ext cx="545321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Almacena valores true o false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3737526" y="3890202"/>
            <a:ext cx="11301259" cy="5368098"/>
          </a:xfrm>
          <a:custGeom>
            <a:rect b="b" l="l" r="r" t="t"/>
            <a:pathLst>
              <a:path extrusionOk="0" h="5368098" w="11301259">
                <a:moveTo>
                  <a:pt x="0" y="0"/>
                </a:moveTo>
                <a:lnTo>
                  <a:pt x="11301259" y="0"/>
                </a:lnTo>
                <a:lnTo>
                  <a:pt x="11301259" y="5368098"/>
                </a:lnTo>
                <a:lnTo>
                  <a:pt x="0" y="5368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7"/>
          <p:cNvSpPr txBox="1"/>
          <p:nvPr/>
        </p:nvSpPr>
        <p:spPr>
          <a:xfrm>
            <a:off x="6798767" y="632449"/>
            <a:ext cx="4690466" cy="2066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de control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1028700" y="4208053"/>
            <a:ext cx="8876842" cy="1935814"/>
          </a:xfrm>
          <a:custGeom>
            <a:rect b="b" l="l" r="r" t="t"/>
            <a:pathLst>
              <a:path extrusionOk="0" h="1935814" w="8876842">
                <a:moveTo>
                  <a:pt x="0" y="0"/>
                </a:moveTo>
                <a:lnTo>
                  <a:pt x="8876842" y="0"/>
                </a:lnTo>
                <a:lnTo>
                  <a:pt x="8876842" y="1935815"/>
                </a:lnTo>
                <a:lnTo>
                  <a:pt x="0" y="19358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8"/>
          <p:cNvSpPr/>
          <p:nvPr/>
        </p:nvSpPr>
        <p:spPr>
          <a:xfrm>
            <a:off x="1265852" y="7126213"/>
            <a:ext cx="6490026" cy="1885277"/>
          </a:xfrm>
          <a:custGeom>
            <a:rect b="b" l="l" r="r" t="t"/>
            <a:pathLst>
              <a:path extrusionOk="0" h="1885277" w="6490026">
                <a:moveTo>
                  <a:pt x="0" y="0"/>
                </a:moveTo>
                <a:lnTo>
                  <a:pt x="6490026" y="0"/>
                </a:lnTo>
                <a:lnTo>
                  <a:pt x="6490026" y="1885277"/>
                </a:lnTo>
                <a:lnTo>
                  <a:pt x="0" y="18852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8"/>
          <p:cNvSpPr txBox="1"/>
          <p:nvPr/>
        </p:nvSpPr>
        <p:spPr>
          <a:xfrm>
            <a:off x="6641334" y="598827"/>
            <a:ext cx="3991273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Sentencia IF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1028700" y="1740192"/>
            <a:ext cx="9838025" cy="1295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6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Usar la sentencia IF para un bloque especifico de codigo para ser ejecutado si la condicion es verdadera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1028700" y="3130458"/>
            <a:ext cx="350430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Sintaxis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1028700" y="6048618"/>
            <a:ext cx="350430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1544142" y="4521267"/>
            <a:ext cx="3915719" cy="5183666"/>
          </a:xfrm>
          <a:custGeom>
            <a:rect b="b" l="l" r="r" t="t"/>
            <a:pathLst>
              <a:path extrusionOk="0" h="5183666" w="3915719">
                <a:moveTo>
                  <a:pt x="0" y="0"/>
                </a:moveTo>
                <a:lnTo>
                  <a:pt x="3915719" y="0"/>
                </a:lnTo>
                <a:lnTo>
                  <a:pt x="3915719" y="5183666"/>
                </a:lnTo>
                <a:lnTo>
                  <a:pt x="0" y="5183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9"/>
          <p:cNvSpPr/>
          <p:nvPr/>
        </p:nvSpPr>
        <p:spPr>
          <a:xfrm>
            <a:off x="12283796" y="1424623"/>
            <a:ext cx="4495367" cy="8492830"/>
          </a:xfrm>
          <a:custGeom>
            <a:rect b="b" l="l" r="r" t="t"/>
            <a:pathLst>
              <a:path extrusionOk="0" h="8492830" w="4495367">
                <a:moveTo>
                  <a:pt x="0" y="0"/>
                </a:moveTo>
                <a:lnTo>
                  <a:pt x="4495367" y="0"/>
                </a:lnTo>
                <a:lnTo>
                  <a:pt x="4495367" y="8492829"/>
                </a:lnTo>
                <a:lnTo>
                  <a:pt x="0" y="84928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9"/>
          <p:cNvSpPr txBox="1"/>
          <p:nvPr/>
        </p:nvSpPr>
        <p:spPr>
          <a:xfrm>
            <a:off x="6098489" y="537527"/>
            <a:ext cx="560099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Sentencia Switch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1544142" y="2096345"/>
            <a:ext cx="7803397" cy="1204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Usar la sentencia switch para elegir un de muchos bloques de codigo para ser ejecuado.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1544142" y="3634172"/>
            <a:ext cx="350430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Sintaxis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/>
          <p:nvPr/>
        </p:nvSpPr>
        <p:spPr>
          <a:xfrm>
            <a:off x="1239666" y="5656048"/>
            <a:ext cx="6200926" cy="2422584"/>
          </a:xfrm>
          <a:custGeom>
            <a:rect b="b" l="l" r="r" t="t"/>
            <a:pathLst>
              <a:path extrusionOk="0" h="2422584" w="6200926">
                <a:moveTo>
                  <a:pt x="0" y="0"/>
                </a:moveTo>
                <a:lnTo>
                  <a:pt x="6200926" y="0"/>
                </a:lnTo>
                <a:lnTo>
                  <a:pt x="6200926" y="2422584"/>
                </a:lnTo>
                <a:lnTo>
                  <a:pt x="0" y="24225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10"/>
          <p:cNvSpPr/>
          <p:nvPr/>
        </p:nvSpPr>
        <p:spPr>
          <a:xfrm>
            <a:off x="10521211" y="5511756"/>
            <a:ext cx="5486603" cy="3383405"/>
          </a:xfrm>
          <a:custGeom>
            <a:rect b="b" l="l" r="r" t="t"/>
            <a:pathLst>
              <a:path extrusionOk="0" h="3383405" w="5486603">
                <a:moveTo>
                  <a:pt x="0" y="0"/>
                </a:moveTo>
                <a:lnTo>
                  <a:pt x="5486603" y="0"/>
                </a:lnTo>
                <a:lnTo>
                  <a:pt x="5486603" y="3383405"/>
                </a:lnTo>
                <a:lnTo>
                  <a:pt x="0" y="3383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10"/>
          <p:cNvSpPr txBox="1"/>
          <p:nvPr/>
        </p:nvSpPr>
        <p:spPr>
          <a:xfrm>
            <a:off x="1476818" y="260740"/>
            <a:ext cx="15334363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Loop While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1239666" y="1676710"/>
            <a:ext cx="10204139" cy="1833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Pueden ejecutar un bloque de codigo siempre que se alcance una condicion especifica. Los bucles son utiles porque ahorran tiempo y hacen que el codigo sea mas legible</a:t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1239666" y="4091261"/>
            <a:ext cx="350430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Sintaxis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10889117" y="4091261"/>
            <a:ext cx="350430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/>
          <p:nvPr/>
        </p:nvSpPr>
        <p:spPr>
          <a:xfrm>
            <a:off x="1063362" y="6024872"/>
            <a:ext cx="8080638" cy="2159112"/>
          </a:xfrm>
          <a:custGeom>
            <a:rect b="b" l="l" r="r" t="t"/>
            <a:pathLst>
              <a:path extrusionOk="0" h="2159112" w="8080638">
                <a:moveTo>
                  <a:pt x="0" y="0"/>
                </a:moveTo>
                <a:lnTo>
                  <a:pt x="8080638" y="0"/>
                </a:lnTo>
                <a:lnTo>
                  <a:pt x="8080638" y="2159112"/>
                </a:lnTo>
                <a:lnTo>
                  <a:pt x="0" y="2159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1"/>
          <p:cNvSpPr/>
          <p:nvPr/>
        </p:nvSpPr>
        <p:spPr>
          <a:xfrm>
            <a:off x="9923121" y="7404750"/>
            <a:ext cx="6138188" cy="2559649"/>
          </a:xfrm>
          <a:custGeom>
            <a:rect b="b" l="l" r="r" t="t"/>
            <a:pathLst>
              <a:path extrusionOk="0" h="2559649" w="6138188">
                <a:moveTo>
                  <a:pt x="0" y="0"/>
                </a:moveTo>
                <a:lnTo>
                  <a:pt x="6138187" y="0"/>
                </a:lnTo>
                <a:lnTo>
                  <a:pt x="6138187" y="2559650"/>
                </a:lnTo>
                <a:lnTo>
                  <a:pt x="0" y="2559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11"/>
          <p:cNvSpPr txBox="1"/>
          <p:nvPr/>
        </p:nvSpPr>
        <p:spPr>
          <a:xfrm>
            <a:off x="1476818" y="260740"/>
            <a:ext cx="15334363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Loop For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1239666" y="1676710"/>
            <a:ext cx="7238517" cy="246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cuando sabes exactamente cuantas veces quieres que un bloque de codigo sea ejecutado puedes usar el bucle for en vez del bucle while.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1239666" y="4487184"/>
            <a:ext cx="350430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Sintaxis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9923121" y="6272470"/>
            <a:ext cx="350430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10020783" y="1676710"/>
            <a:ext cx="7238517" cy="4348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Statement 1: </a:t>
            </a: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 ejecutado una sola vez antes de ejecutar el bloque de codigo.</a:t>
            </a:r>
            <a:endParaRPr/>
          </a:p>
          <a:p>
            <a:pPr indent="0" lvl="0" marL="0" marR="0" rtl="0" algn="l">
              <a:lnSpc>
                <a:spcPct val="177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Statement 2 </a:t>
            </a: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Define la condicion para ejecutar el codigo de lboque</a:t>
            </a:r>
            <a:endParaRPr/>
          </a:p>
          <a:p>
            <a:pPr indent="0" lvl="0" marL="0" marR="0" rtl="0" algn="l">
              <a:lnSpc>
                <a:spcPct val="177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Statement 3: </a:t>
            </a:r>
            <a:r>
              <a:rPr b="0" i="0" lang="en-US" sz="27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 ejecutado cada vez despues de que el bloque de codigo haya sido ejecutado.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11622185" y="5329389"/>
            <a:ext cx="5276332" cy="3607927"/>
          </a:xfrm>
          <a:custGeom>
            <a:rect b="b" l="l" r="r" t="t"/>
            <a:pathLst>
              <a:path extrusionOk="0" h="3607927" w="5276332">
                <a:moveTo>
                  <a:pt x="0" y="0"/>
                </a:moveTo>
                <a:lnTo>
                  <a:pt x="5276332" y="0"/>
                </a:lnTo>
                <a:lnTo>
                  <a:pt x="5276332" y="3607926"/>
                </a:lnTo>
                <a:lnTo>
                  <a:pt x="0" y="3607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2"/>
          <p:cNvSpPr txBox="1"/>
          <p:nvPr/>
        </p:nvSpPr>
        <p:spPr>
          <a:xfrm>
            <a:off x="1305009" y="256767"/>
            <a:ext cx="16408647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Metodos</a:t>
            </a:r>
            <a:endParaRPr/>
          </a:p>
        </p:txBody>
      </p:sp>
      <p:sp>
        <p:nvSpPr>
          <p:cNvPr id="284" name="Google Shape;284;p12"/>
          <p:cNvSpPr txBox="1"/>
          <p:nvPr/>
        </p:nvSpPr>
        <p:spPr>
          <a:xfrm>
            <a:off x="1028700" y="1784715"/>
            <a:ext cx="144348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método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es un bloque de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código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que solo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será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ejecutado cuando es llamado.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Puedes pasarle datos, conocidos como parametros, dentro de un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método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Los métodos se utilizan para realizar determinadas acciones y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también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se conocen como funciones.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1574743" y="4652327"/>
            <a:ext cx="6982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Crear un </a:t>
            </a: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método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1028700" y="6034723"/>
            <a:ext cx="9823947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método se define con su nombre, seguido de paréntesis (). C# proporciona algunos métodos predefinidos con los que ya está familiarizado, como Main(), pero también puede crear sus propios métodos para realizar ciertas acciones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/>
          <p:nvPr/>
        </p:nvSpPr>
        <p:spPr>
          <a:xfrm>
            <a:off x="6397876" y="4863139"/>
            <a:ext cx="5068611" cy="5053615"/>
          </a:xfrm>
          <a:custGeom>
            <a:rect b="b" l="l" r="r" t="t"/>
            <a:pathLst>
              <a:path extrusionOk="0" h="5053615" w="5068611">
                <a:moveTo>
                  <a:pt x="0" y="0"/>
                </a:moveTo>
                <a:lnTo>
                  <a:pt x="5068612" y="0"/>
                </a:lnTo>
                <a:lnTo>
                  <a:pt x="5068612" y="5053615"/>
                </a:lnTo>
                <a:lnTo>
                  <a:pt x="0" y="50536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3"/>
          <p:cNvSpPr/>
          <p:nvPr/>
        </p:nvSpPr>
        <p:spPr>
          <a:xfrm>
            <a:off x="14753706" y="7859354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8" y="0"/>
                </a:lnTo>
                <a:lnTo>
                  <a:pt x="50111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3"/>
          <p:cNvSpPr/>
          <p:nvPr/>
        </p:nvSpPr>
        <p:spPr>
          <a:xfrm>
            <a:off x="-2080092" y="-1225641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13"/>
          <p:cNvSpPr txBox="1"/>
          <p:nvPr/>
        </p:nvSpPr>
        <p:spPr>
          <a:xfrm>
            <a:off x="1305009" y="256767"/>
            <a:ext cx="16408647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de memoria</a:t>
            </a:r>
            <a:endParaRPr/>
          </a:p>
        </p:txBody>
      </p:sp>
      <p:sp>
        <p:nvSpPr>
          <p:cNvPr id="299" name="Google Shape;299;p13"/>
          <p:cNvSpPr txBox="1"/>
          <p:nvPr/>
        </p:nvSpPr>
        <p:spPr>
          <a:xfrm>
            <a:off x="3867641" y="1541128"/>
            <a:ext cx="171226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Heap</a:t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12028170" y="1541128"/>
            <a:ext cx="179829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Stack</a:t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9374880" y="2704448"/>
            <a:ext cx="78843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stack es utilizado para almacenar variables locales y la </a:t>
            </a:r>
            <a:r>
              <a:rPr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información</a:t>
            </a: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llamadas a funciones.</a:t>
            </a: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667626" y="2704448"/>
            <a:ext cx="7884420" cy="1780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heap se utiliza para asignar memoria de forma dinámica durante la ejecución del programa.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f3f31b0cf_0_350"/>
          <p:cNvSpPr/>
          <p:nvPr/>
        </p:nvSpPr>
        <p:spPr>
          <a:xfrm>
            <a:off x="14753706" y="7859354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8" y="0"/>
                </a:lnTo>
                <a:lnTo>
                  <a:pt x="50111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g39f3f31b0cf_0_350"/>
          <p:cNvSpPr/>
          <p:nvPr/>
        </p:nvSpPr>
        <p:spPr>
          <a:xfrm>
            <a:off x="-2080092" y="-1225641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g39f3f31b0cf_0_350"/>
          <p:cNvSpPr txBox="1"/>
          <p:nvPr/>
        </p:nvSpPr>
        <p:spPr>
          <a:xfrm>
            <a:off x="9641877" y="2865733"/>
            <a:ext cx="92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g39f3f31b0cf_0_350"/>
          <p:cNvSpPr txBox="1"/>
          <p:nvPr/>
        </p:nvSpPr>
        <p:spPr>
          <a:xfrm>
            <a:off x="9641877" y="4829175"/>
            <a:ext cx="92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5" name="Google Shape;315;g39f3f31b0cf_0_350"/>
          <p:cNvSpPr txBox="1"/>
          <p:nvPr/>
        </p:nvSpPr>
        <p:spPr>
          <a:xfrm>
            <a:off x="10705961" y="3037183"/>
            <a:ext cx="59607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registro que contiene un dato de interés y al menos un puntero para referenciar (apuntar) a otro nodo.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16" name="Google Shape;316;g39f3f31b0cf_0_350"/>
          <p:cNvSpPr txBox="1"/>
          <p:nvPr/>
        </p:nvSpPr>
        <p:spPr>
          <a:xfrm>
            <a:off x="10705961" y="5000625"/>
            <a:ext cx="59607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Puntero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50" u="none" cap="none" strike="noStrike">
                <a:solidFill>
                  <a:schemeClr val="dk1"/>
                </a:solidFill>
              </a:rPr>
              <a:t>Un puntero es una variable que contiene la dirección de memoria de otra variable.</a:t>
            </a:r>
            <a:endParaRPr sz="1750">
              <a:solidFill>
                <a:schemeClr val="dk1"/>
              </a:solidFill>
            </a:endParaRPr>
          </a:p>
        </p:txBody>
      </p:sp>
      <p:sp>
        <p:nvSpPr>
          <p:cNvPr id="317" name="Google Shape;317;g39f3f31b0cf_0_350"/>
          <p:cNvSpPr txBox="1"/>
          <p:nvPr/>
        </p:nvSpPr>
        <p:spPr>
          <a:xfrm>
            <a:off x="1278650" y="2543322"/>
            <a:ext cx="7475700" cy="29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ELEMENTOS BÁSICOS DE UNA ESTRUCTURA DE DATOS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8" name="Google Shape;318;g39f3f31b0cf_0_350"/>
          <p:cNvSpPr/>
          <p:nvPr/>
        </p:nvSpPr>
        <p:spPr>
          <a:xfrm>
            <a:off x="10926706" y="6463155"/>
            <a:ext cx="5519261" cy="1626108"/>
          </a:xfrm>
          <a:custGeom>
            <a:rect b="b" l="l" r="r" t="t"/>
            <a:pathLst>
              <a:path extrusionOk="0" h="2168144" w="7359015">
                <a:moveTo>
                  <a:pt x="0" y="0"/>
                </a:moveTo>
                <a:lnTo>
                  <a:pt x="7359015" y="0"/>
                </a:lnTo>
                <a:lnTo>
                  <a:pt x="7359015" y="2168144"/>
                </a:lnTo>
                <a:lnTo>
                  <a:pt x="0" y="2168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f3f31b0cf_0_497"/>
          <p:cNvSpPr/>
          <p:nvPr/>
        </p:nvSpPr>
        <p:spPr>
          <a:xfrm>
            <a:off x="14753706" y="7859354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8" y="0"/>
                </a:lnTo>
                <a:lnTo>
                  <a:pt x="50111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g39f3f31b0cf_0_497"/>
          <p:cNvSpPr/>
          <p:nvPr/>
        </p:nvSpPr>
        <p:spPr>
          <a:xfrm>
            <a:off x="-2080092" y="-1225641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g39f3f31b0cf_0_497"/>
          <p:cNvSpPr txBox="1"/>
          <p:nvPr/>
        </p:nvSpPr>
        <p:spPr>
          <a:xfrm>
            <a:off x="9466937" y="1539042"/>
            <a:ext cx="92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0" name="Google Shape;330;g39f3f31b0cf_0_497"/>
          <p:cNvSpPr txBox="1"/>
          <p:nvPr/>
        </p:nvSpPr>
        <p:spPr>
          <a:xfrm>
            <a:off x="9466937" y="3438231"/>
            <a:ext cx="92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1" name="Google Shape;331;g39f3f31b0cf_0_497"/>
          <p:cNvSpPr txBox="1"/>
          <p:nvPr/>
        </p:nvSpPr>
        <p:spPr>
          <a:xfrm>
            <a:off x="9466937" y="7055048"/>
            <a:ext cx="92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2" name="Google Shape;332;g39f3f31b0cf_0_497"/>
          <p:cNvSpPr txBox="1"/>
          <p:nvPr/>
        </p:nvSpPr>
        <p:spPr>
          <a:xfrm>
            <a:off x="9466937" y="5190163"/>
            <a:ext cx="77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3" name="Google Shape;333;g39f3f31b0cf_0_497"/>
          <p:cNvSpPr txBox="1"/>
          <p:nvPr/>
        </p:nvSpPr>
        <p:spPr>
          <a:xfrm>
            <a:off x="10531020" y="1710492"/>
            <a:ext cx="59607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Posee un nodo inicial, también llamado nodo “cabeza” el cual se encarga de identificar el inicio de toda la secuencia de nodos que conforman a la lista enlazada.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4" name="Google Shape;334;g39f3f31b0cf_0_497"/>
          <p:cNvSpPr txBox="1"/>
          <p:nvPr/>
        </p:nvSpPr>
        <p:spPr>
          <a:xfrm>
            <a:off x="10531020" y="3609681"/>
            <a:ext cx="59607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último nodo de la lista enlazada tiene un puntero hacia un valor </a:t>
            </a:r>
            <a:r>
              <a:rPr b="1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5" name="Google Shape;335;g39f3f31b0cf_0_497"/>
          <p:cNvSpPr txBox="1"/>
          <p:nvPr/>
        </p:nvSpPr>
        <p:spPr>
          <a:xfrm>
            <a:off x="10531020" y="7226498"/>
            <a:ext cx="59607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Algunas implementaciones de las listas enlazadas poseen punteros hacia el último nodo de la lista.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6" name="Google Shape;336;g39f3f31b0cf_0_497"/>
          <p:cNvSpPr txBox="1"/>
          <p:nvPr/>
        </p:nvSpPr>
        <p:spPr>
          <a:xfrm>
            <a:off x="10531020" y="5361613"/>
            <a:ext cx="59607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nodo posee un único enlace, el cual se encarga de almacenar el puntero hacia el nodo siguiente en la secuencia.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7" name="Google Shape;337;g39f3f31b0cf_0_497"/>
          <p:cNvSpPr txBox="1"/>
          <p:nvPr/>
        </p:nvSpPr>
        <p:spPr>
          <a:xfrm>
            <a:off x="1464348" y="1216534"/>
            <a:ext cx="67356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SIMPLEMENTE ENLAZADA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8" name="Google Shape;338;g39f3f31b0cf_0_497"/>
          <p:cNvSpPr txBox="1"/>
          <p:nvPr/>
        </p:nvSpPr>
        <p:spPr>
          <a:xfrm>
            <a:off x="1464348" y="3174032"/>
            <a:ext cx="65373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7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lista enlazada es un conjunto de elementos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907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llamados nodos en los que cada uno de ellos contiene un dato y también la dirección del siguiente nodo,donde el orden de los mismos se establece mediante punteros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2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9f3f31b0cf_0_497"/>
          <p:cNvSpPr/>
          <p:nvPr/>
        </p:nvSpPr>
        <p:spPr>
          <a:xfrm>
            <a:off x="1464348" y="5740258"/>
            <a:ext cx="6735604" cy="1960816"/>
          </a:xfrm>
          <a:custGeom>
            <a:rect b="b" l="l" r="r" t="t"/>
            <a:pathLst>
              <a:path extrusionOk="0" h="2614422" w="8980805">
                <a:moveTo>
                  <a:pt x="0" y="0"/>
                </a:moveTo>
                <a:lnTo>
                  <a:pt x="8980805" y="0"/>
                </a:lnTo>
                <a:lnTo>
                  <a:pt x="8980805" y="2614422"/>
                </a:lnTo>
                <a:lnTo>
                  <a:pt x="0" y="26144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/>
          <p:nvPr/>
        </p:nvSpPr>
        <p:spPr>
          <a:xfrm>
            <a:off x="7086600" y="5701949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14"/>
          <p:cNvSpPr txBox="1"/>
          <p:nvPr/>
        </p:nvSpPr>
        <p:spPr>
          <a:xfrm>
            <a:off x="6302849" y="1416775"/>
            <a:ext cx="56823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5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</a:t>
            </a: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práctico</a:t>
            </a:r>
            <a:endParaRPr/>
          </a:p>
        </p:txBody>
      </p:sp>
      <p:sp>
        <p:nvSpPr>
          <p:cNvPr id="350" name="Google Shape;350;p14"/>
          <p:cNvSpPr txBox="1"/>
          <p:nvPr/>
        </p:nvSpPr>
        <p:spPr>
          <a:xfrm>
            <a:off x="5232685" y="3073720"/>
            <a:ext cx="7822500" cy="20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juego de piedra, papel o tijera para poner en </a:t>
            </a:r>
            <a:r>
              <a:rPr lang="en-US" sz="3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práctica</a:t>
            </a:r>
            <a:r>
              <a:rPr b="0" i="0" lang="en-US" sz="3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las estructuras de control y metodos.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"/>
          <p:cNvSpPr/>
          <p:nvPr/>
        </p:nvSpPr>
        <p:spPr>
          <a:xfrm rot="8623329">
            <a:off x="13129728" y="7661956"/>
            <a:ext cx="7315200" cy="3697501"/>
          </a:xfrm>
          <a:custGeom>
            <a:rect b="b" l="l" r="r" t="t"/>
            <a:pathLst>
              <a:path extrusionOk="0" h="3697501" w="7315200">
                <a:moveTo>
                  <a:pt x="0" y="0"/>
                </a:moveTo>
                <a:lnTo>
                  <a:pt x="7315200" y="0"/>
                </a:lnTo>
                <a:lnTo>
                  <a:pt x="7315200" y="3697501"/>
                </a:lnTo>
                <a:lnTo>
                  <a:pt x="0" y="3697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15"/>
          <p:cNvSpPr/>
          <p:nvPr/>
        </p:nvSpPr>
        <p:spPr>
          <a:xfrm>
            <a:off x="-1759847" y="-791782"/>
            <a:ext cx="5011187" cy="4114800"/>
          </a:xfrm>
          <a:custGeom>
            <a:rect b="b" l="l" r="r" t="t"/>
            <a:pathLst>
              <a:path extrusionOk="0" h="4114800" w="5011187">
                <a:moveTo>
                  <a:pt x="0" y="0"/>
                </a:moveTo>
                <a:lnTo>
                  <a:pt x="5011187" y="0"/>
                </a:lnTo>
                <a:lnTo>
                  <a:pt x="50111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15"/>
          <p:cNvSpPr txBox="1"/>
          <p:nvPr/>
        </p:nvSpPr>
        <p:spPr>
          <a:xfrm>
            <a:off x="2507390" y="762000"/>
            <a:ext cx="13503300" cy="13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6212437" y="3632233"/>
            <a:ext cx="5812805" cy="2901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Datos basicos</a:t>
            </a:r>
            <a:endParaRPr/>
          </a:p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Estructuras de control</a:t>
            </a:r>
            <a:endParaRPr/>
          </a:p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Metodos</a:t>
            </a:r>
            <a:endParaRPr/>
          </a:p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Heap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"/>
          <p:cNvSpPr txBox="1"/>
          <p:nvPr/>
        </p:nvSpPr>
        <p:spPr>
          <a:xfrm>
            <a:off x="2507390" y="762000"/>
            <a:ext cx="13503300" cy="13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/>
          </a:p>
        </p:txBody>
      </p:sp>
      <p:sp>
        <p:nvSpPr>
          <p:cNvPr id="372" name="Google Shape;372;p16"/>
          <p:cNvSpPr txBox="1"/>
          <p:nvPr/>
        </p:nvSpPr>
        <p:spPr>
          <a:xfrm>
            <a:off x="6587698" y="4450100"/>
            <a:ext cx="51126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2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Documentacion PEARL</a:t>
            </a:r>
            <a:endParaRPr/>
          </a:p>
        </p:txBody>
      </p:sp>
      <p:sp>
        <p:nvSpPr>
          <p:cNvPr descr="https://www.youtube.com/watch?v=6aRXwhQbU04&#10;" id="373" name="Google Shape;373;p16"/>
          <p:cNvSpPr txBox="1"/>
          <p:nvPr/>
        </p:nvSpPr>
        <p:spPr>
          <a:xfrm>
            <a:off x="6346800" y="6065725"/>
            <a:ext cx="5594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Tutorial de las bases de PEARL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f3f31b0cf_0_527"/>
          <p:cNvSpPr txBox="1"/>
          <p:nvPr/>
        </p:nvSpPr>
        <p:spPr>
          <a:xfrm>
            <a:off x="3403239" y="2068077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79" name="Google Shape;379;g39f3f31b0cf_0_527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75" y="157529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9f3f31b0cf_0_527"/>
          <p:cNvSpPr txBox="1"/>
          <p:nvPr/>
        </p:nvSpPr>
        <p:spPr>
          <a:xfrm>
            <a:off x="5198625" y="3006775"/>
            <a:ext cx="10239300" cy="7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¿Qué aprendiste sobre el funcionamiento de una lista enlazada simple y cómo se diferencia de un arreglo tradicional?</a:t>
            </a:r>
            <a:endParaRPr b="1" sz="3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¿Cómo describirías la estructura de un nodo dentro de una lista simple?</a:t>
            </a:r>
            <a:br>
              <a:rPr b="1" lang="en-US" sz="3500">
                <a:solidFill>
                  <a:schemeClr val="dk1"/>
                </a:solidFill>
              </a:rPr>
            </a:br>
            <a:endParaRPr b="1" sz="3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-US" sz="3000">
                <a:solidFill>
                  <a:schemeClr val="dk1"/>
                </a:solidFill>
              </a:rPr>
            </a:br>
            <a:endParaRPr b="1" sz="3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29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ctr">
              <a:lnSpc>
                <a:spcPct val="139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39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39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g39f3f31b0cf_0_53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6" name="Google Shape;386;g39f3f31b0cf_0_533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{F4854E8A-1C52-459C-BB29-C7FFC77AD73C}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7" name="Google Shape;387;g39f3f31b0cf_0_533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9f3f31b0cf_0_533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9" name="Google Shape;389;g39f3f31b0cf_0_533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{F4854E8A-1C52-459C-BB29-C7FFC77AD73C}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0" name="Google Shape;390;g39f3f31b0cf_0_533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9f3f31b0cf_0_533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f3f31b0cf_0_543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g39f3f31b0cf_0_543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f3f31b0cf_0_548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03" name="Google Shape;403;g39f3f31b0cf_0_548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4" name="Google Shape;404;g39f3f31b0cf_0_548"/>
          <p:cNvSpPr txBox="1"/>
          <p:nvPr/>
        </p:nvSpPr>
        <p:spPr>
          <a:xfrm>
            <a:off x="2411100" y="7091240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